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9"/>
  </p:normalViewPr>
  <p:slideViewPr>
    <p:cSldViewPr snapToGrid="0">
      <p:cViewPr varScale="1">
        <p:scale>
          <a:sx n="108" d="100"/>
          <a:sy n="108" d="100"/>
        </p:scale>
        <p:origin x="7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PRISM Duplex, our Theme 05 submission: a full-duplex voice agent you can interrupt and correct mid-sentence, built as a custom LiveKit agent with every model running locally.</a:t>
            </a: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Real people pause, hesitate and correct themselves. A turn-taking assistant acts on the first half of the sentence, so a stale airport route gets computed before the correction arrives. Full-Duplex-Bench v3 passes a scenario only if exactly the expected tools are called, so one stale call fails it. The brief asks for three things at once: respond fast, never block on tools, and recover from corrections without repeating actions.</a:t>
            </a: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Native speech-to-speech models are fast but hosted, and the model decides when to call tools. Cascaded pipelines are modular but sequential. Voice frameworks like LiveKit handle audio and stopping speech, but deciding which tool calls are still valid after a correction is the application's job. Those are the gaps we target: stale calls from half a sentence, repeated actions, dead air or false completion, and long chains.</a:t>
            </a: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The fast path keeps the floor: voice activity detection and Parakeet transcribe each finished segment, and if planning takes over 700 milliseconds the agent says a generic 'One moment.', never 'done'. The coordinator decides when to act: Qwen3 turns the disfluent request into a plan of tool calls, the commit gate holds it 350 to 700 milliseconds in case you keep talking, and the ledger blocks an identical state-changing call. The slow path runs the plan as async calls, cancels stale reads, grounds a reply in the real results and speaks it back into the room. Nothing executes until the utterance is resolved and has passed the gate.</a:t>
            </a: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This is a live run from today on a Mac with LiveKit Cloud. Saying 'Navigate to the airport' starts a real route on the simulated Bengaluru map, with an 88-minute estimate. The strip under the conversation is the listening view: your voice above the line, the agent's below, so when you talk over the agent you see both at once. The timeline ribbon under the map shows every commit-gate hold, cancellation and tool call.</a:t>
            </a: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Everything that thinks or speaks runs locally. On a Mac we serve Qwen3-8B 4-bit with MLX; on the organizers' 48 GB NVIDIA machine the script switches to Qwen3-14B-AWQ on vLLM and NeMo for speech recognition. Kokoro speaks, Silero detects voice activity, and LiveKit carries the audio. Model revisions and the seed are pinned so a re-run matches our logs.</a:t>
            </a: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Our extension is a hands-free driving assistant. It reuses the coordinator unchanged; only the tool manifest differs, with six tools on a deterministic Bengaluru map. It handles a destination change mid-sentence or after commit, a coffee stop added while the agent is talking, and a repeated stop that is ignored. The same behaviour matters for support bots that must not double-book and for users who hesitate. Routing and arrival times are simulated.</a:t>
            </a: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Our best full run passes 58 of 100 FDB-v3 scenarios under strict scoring. When the agent took its turn it chose the right tools 82.3 percent of the time and the right arguments 69.9 percent. The most telling number: only one of the 42 failures came from an extra call, the error the commit gate exists to prevent; 23 failures made no call at all. Caveats: exact-match scoring instead of the LLM judge, a Mac with an MLX port of the same speech model, and the 25 September revision. Only the organizers' re-run is official.</a:t>
            </a: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In priority order. First, re-run the current code the way the organizers will, so our self-reported number is comparable. Second, the failure analysis points straight at missed calls and long chains. Third, latency: we transcribe whole segments today; streaming partial transcripts would let the planner start earlier. Fourth, everything so far used recorded and synthetic speech; real people, real speakers and simultaneous rooms still need testing.</a:t>
            </a: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What sets us apart: the whole stack runs locally; correctness comes from the coordinator's design rather than prompting; we never used benchmark answers and we report our caveats; one command reproduces the benchmark run; 797 unit tests guard the behaviour; and the web demo makes every decision visible.</a:t>
            </a: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Code, README with setup steps, and this presentation are in the public repository. Add the demo video link before submitting.</a:t>
            </a: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JayeshPani/prism-duplex"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620647"/>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dirty="0">
                <a:solidFill>
                  <a:srgbClr val="14142B"/>
                </a:solidFill>
                <a:latin typeface="Arial"/>
                <a:ea typeface="Arial"/>
                <a:cs typeface="Arial"/>
                <a:sym typeface="Arial"/>
              </a:rPr>
              <a:t>3rd Edition</a:t>
            </a:r>
            <a:r>
              <a:rPr lang="en-US" sz="2000" b="0" i="0" u="none" strike="noStrike" cap="none" dirty="0">
                <a:solidFill>
                  <a:srgbClr val="63637E"/>
                </a:solidFill>
                <a:latin typeface="Calibri"/>
                <a:ea typeface="Calibri"/>
                <a:cs typeface="Calibri"/>
                <a:sym typeface="Calibri"/>
              </a:rPr>
              <a:t>   2026 – 27</a:t>
            </a:r>
            <a:endParaRPr sz="2500" b="0" i="0" u="none" strike="noStrike" cap="none" dirty="0">
              <a:solidFill>
                <a:schemeClr val="dk1"/>
              </a:solidFill>
              <a:latin typeface="Calibri"/>
              <a:ea typeface="Calibri"/>
              <a:cs typeface="Calibri"/>
              <a:sym typeface="Calibri"/>
            </a:endParaRPr>
          </a:p>
        </p:txBody>
      </p:sp>
      <p:sp>
        <p:nvSpPr>
          <p:cNvPr id="95" name="Google Shape;95;p1"/>
          <p:cNvSpPr txBox="1"/>
          <p:nvPr/>
        </p:nvSpPr>
        <p:spPr>
          <a:xfrm>
            <a:off x="777240" y="3182112"/>
            <a:ext cx="6126480" cy="7772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Theme ID - 05: Interruptible Real-Time Agents</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Team Name - </a:t>
            </a:r>
            <a:r>
              <a:rPr lang="en-US" sz="1600" b="0" i="0" u="none" strike="noStrike" cap="none" dirty="0" err="1">
                <a:solidFill>
                  <a:srgbClr val="63637E"/>
                </a:solidFill>
                <a:latin typeface="Calibri"/>
                <a:ea typeface="Calibri"/>
                <a:cs typeface="Calibri"/>
                <a:sym typeface="Calibri"/>
              </a:rPr>
              <a:t>Jupyter</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College Name – Vit Vellore</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1- Megha Gautam</a:t>
            </a:r>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(meghagautam2304@gmail.com)</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a:t>
            </a:r>
            <a:r>
              <a:rPr lang="en-US" sz="1600" dirty="0">
                <a:solidFill>
                  <a:srgbClr val="63637E"/>
                </a:solidFill>
                <a:latin typeface="Calibri"/>
                <a:ea typeface="Calibri"/>
                <a:cs typeface="Calibri"/>
                <a:sym typeface="Calibri"/>
              </a:rPr>
              <a:t>2- Jayesh Pani (jayeshpani.2023@vitstudent.ac.in)</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3- Stuti </a:t>
            </a:r>
            <a:r>
              <a:rPr lang="en-US" sz="1600" dirty="0">
                <a:solidFill>
                  <a:srgbClr val="63637E"/>
                </a:solidFill>
                <a:latin typeface="Calibri"/>
                <a:ea typeface="Calibri"/>
                <a:cs typeface="Calibri"/>
                <a:sym typeface="Calibri"/>
              </a:rPr>
              <a:t>Arya </a:t>
            </a:r>
          </a:p>
          <a:p>
            <a:pPr marL="177800" lvl="0" indent="-177800">
              <a:spcBef>
                <a:spcPts val="500"/>
              </a:spcBef>
              <a:buClr>
                <a:srgbClr val="63637E"/>
              </a:buClr>
              <a:buSzPts val="1600"/>
              <a:buFont typeface="Calibri"/>
              <a:buChar char="•"/>
            </a:pPr>
            <a:r>
              <a:rPr lang="en-US" sz="1600" dirty="0">
                <a:solidFill>
                  <a:srgbClr val="63637E"/>
                </a:solidFill>
                <a:latin typeface="Calibri"/>
                <a:ea typeface="Calibri"/>
                <a:cs typeface="Calibri"/>
                <a:sym typeface="Calibri"/>
              </a:rPr>
              <a:t>(stuti.arya2023@vitstudent.ac.in)</a:t>
            </a:r>
            <a:endParaRPr dirty="0"/>
          </a:p>
          <a:p>
            <a:pPr marL="177800" lvl="0" indent="-177800">
              <a:spcBef>
                <a:spcPts val="500"/>
              </a:spcBef>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Member Name &amp; Email 4- Rithik </a:t>
            </a:r>
            <a:r>
              <a:rPr lang="en-US" sz="1600" b="0" i="0" u="none" strike="noStrike" cap="none" dirty="0" err="1">
                <a:solidFill>
                  <a:srgbClr val="63637E"/>
                </a:solidFill>
                <a:latin typeface="Calibri"/>
                <a:ea typeface="Calibri"/>
                <a:cs typeface="Calibri"/>
                <a:sym typeface="Calibri"/>
              </a:rPr>
              <a:t>Meedinti</a:t>
            </a:r>
            <a:r>
              <a:rPr lang="en-US" sz="1600" dirty="0">
                <a:solidFill>
                  <a:srgbClr val="63637E"/>
                </a:solidFill>
                <a:latin typeface="Calibri"/>
                <a:ea typeface="Calibri"/>
                <a:cs typeface="Calibri"/>
                <a:sym typeface="Calibri"/>
              </a:rPr>
              <a:t> (rithik.meedinti2023@vitstudent.ac.in)</a:t>
            </a:r>
            <a:endParaRPr dirty="0"/>
          </a:p>
          <a:p>
            <a:pPr marL="177800" marR="0" lvl="0" indent="-177800" algn="l" rtl="0">
              <a:spcBef>
                <a:spcPts val="500"/>
              </a:spcBef>
              <a:spcAft>
                <a:spcPts val="0"/>
              </a:spcAft>
              <a:buClr>
                <a:srgbClr val="63637E"/>
              </a:buClr>
              <a:buSzPts val="1600"/>
              <a:buFont typeface="Calibri"/>
              <a:buChar char="•"/>
            </a:pPr>
            <a:r>
              <a:rPr lang="en-US" sz="1600" b="0" i="0" u="none" strike="noStrike" cap="none" dirty="0">
                <a:solidFill>
                  <a:srgbClr val="63637E"/>
                </a:solidFill>
                <a:latin typeface="Calibri"/>
                <a:ea typeface="Calibri"/>
                <a:cs typeface="Calibri"/>
                <a:sym typeface="Calibri"/>
              </a:rPr>
              <a:t>Submission </a:t>
            </a:r>
            <a:r>
              <a:rPr lang="en-US" sz="1600" b="0" i="0" u="none" strike="noStrike" cap="none" dirty="0" err="1">
                <a:solidFill>
                  <a:srgbClr val="63637E"/>
                </a:solidFill>
                <a:latin typeface="Calibri"/>
                <a:ea typeface="Calibri"/>
                <a:cs typeface="Calibri"/>
                <a:sym typeface="Calibri"/>
              </a:rPr>
              <a:t>Github</a:t>
            </a:r>
            <a:r>
              <a:rPr lang="en-US" sz="1600" b="0" i="0" u="none" strike="noStrike" cap="none" dirty="0">
                <a:solidFill>
                  <a:srgbClr val="63637E"/>
                </a:solidFill>
                <a:latin typeface="Calibri"/>
                <a:ea typeface="Calibri"/>
                <a:cs typeface="Calibri"/>
                <a:sym typeface="Calibri"/>
              </a:rPr>
              <a:t> link - </a:t>
            </a:r>
            <a:r>
              <a:rPr sz="1600" b="0" i="0" u="sng" dirty="0">
                <a:solidFill>
                  <a:srgbClr val="63637E"/>
                </a:solidFill>
                <a:latin typeface="Calibri"/>
                <a:hlinkClick r:id="rId3"/>
              </a:rPr>
              <a:t>github.com/JayeshPani/prism-duplex</a:t>
            </a:r>
            <a:endParaRPr dirty="0"/>
          </a:p>
          <a:p>
            <a:pPr marL="177800" marR="0" lvl="0" indent="-76200" algn="l" rtl="0">
              <a:spcBef>
                <a:spcPts val="500"/>
              </a:spcBef>
              <a:spcAft>
                <a:spcPts val="0"/>
              </a:spcAft>
              <a:buClr>
                <a:schemeClr val="dk1"/>
              </a:buClr>
              <a:buSzPts val="1600"/>
              <a:buFont typeface="Calibri"/>
              <a:buNone/>
            </a:pPr>
            <a:endParaRPr sz="1600" b="0" i="0" u="none" strike="noStrike" cap="none" dirty="0">
              <a:solidFill>
                <a:srgbClr val="63637E"/>
              </a:solidFill>
              <a:latin typeface="Calibri"/>
              <a:ea typeface="Calibri"/>
              <a:cs typeface="Calibri"/>
              <a:sym typeface="Calibri"/>
            </a:endParaRPr>
          </a:p>
        </p:txBody>
      </p:sp>
      <p:pic>
        <p:nvPicPr>
          <p:cNvPr id="96" name="Google Shape;96;p1" descr="hero_network.png"/>
          <p:cNvPicPr preferRelativeResize="0"/>
          <p:nvPr/>
        </p:nvPicPr>
        <p:blipFill rotWithShape="1">
          <a:blip r:embed="rId4">
            <a:alphaModFix/>
          </a:blip>
          <a:srcRect/>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102" name="Theme statement"/>
          <p:cNvSpPr txBox="1"/>
          <p:nvPr/>
        </p:nvSpPr>
        <p:spPr>
          <a:xfrm>
            <a:off x="841248" y="1828800"/>
            <a:ext cx="5257800" cy="2011680"/>
          </a:xfrm>
          <a:prstGeom prst="rect">
            <a:avLst/>
          </a:prstGeom>
          <a:noFill/>
        </p:spPr>
        <p:txBody>
          <a:bodyPr wrap="square" lIns="0" tIns="0" rIns="0" bIns="0" anchor="t">
            <a:spAutoFit/>
          </a:bodyPr>
          <a:lstStyle/>
          <a:p>
            <a:pPr algn="l">
              <a:spcAft>
                <a:spcPts val="600"/>
              </a:spcAft>
            </a:pPr>
            <a:r>
              <a:rPr sz="2000" b="1" i="0">
                <a:solidFill>
                  <a:srgbClr val="14142B"/>
                </a:solidFill>
                <a:latin typeface="Calibri"/>
              </a:rPr>
              <a:t>Theme 05: Interruptible Real-Time Agents</a:t>
            </a:r>
          </a:p>
          <a:p>
            <a:pPr algn="l">
              <a:spcAft>
                <a:spcPts val="1000"/>
              </a:spcAft>
            </a:pPr>
            <a:r>
              <a:rPr sz="1500" b="0" i="1">
                <a:solidFill>
                  <a:srgbClr val="63637E"/>
                </a:solidFill>
                <a:latin typeface="Calibri"/>
              </a:rPr>
              <a:t>Voice-native assistant architecture: fast-and-slow execution and robust interruption handling.</a:t>
            </a:r>
          </a:p>
          <a:p>
            <a:pPr algn="l">
              <a:lnSpc>
                <a:spcPct val="110000"/>
              </a:lnSpc>
              <a:spcAft>
                <a:spcPts val="0"/>
              </a:spcAft>
            </a:pPr>
            <a:r>
              <a:rPr sz="1500" b="0" i="0">
                <a:solidFill>
                  <a:srgbClr val="14142B"/>
                </a:solidFill>
                <a:latin typeface="Calibri"/>
              </a:rPr>
              <a:t>Today’s assistants work half-duplex: listen, think, speak. Real people interrupt, hesitate and correct themselves mid-sentence.</a:t>
            </a:r>
          </a:p>
        </p:txBody>
      </p:sp>
      <p:sp>
        <p:nvSpPr>
          <p:cNvPr id="103" name="Example correction"/>
          <p:cNvSpPr/>
          <p:nvPr/>
        </p:nvSpPr>
        <p:spPr>
          <a:xfrm>
            <a:off x="6400800" y="1828800"/>
            <a:ext cx="4956048" cy="2011680"/>
          </a:xfrm>
          <a:prstGeom prst="roundRect">
            <a:avLst>
              <a:gd name="adj" fmla="val 3636"/>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ctr"/>
          <a:lstStyle/>
          <a:p>
            <a:pPr algn="l">
              <a:spcAft>
                <a:spcPts val="1200"/>
              </a:spcAft>
            </a:pPr>
            <a:r>
              <a:rPr sz="1800" b="0" i="1">
                <a:solidFill>
                  <a:srgbClr val="14142B"/>
                </a:solidFill>
                <a:latin typeface="Calibri"/>
              </a:rPr>
              <a:t>“Take me to the airport… actually, the office first.”</a:t>
            </a:r>
          </a:p>
          <a:p>
            <a:pPr algn="l">
              <a:lnSpc>
                <a:spcPct val="105000"/>
              </a:lnSpc>
              <a:spcAft>
                <a:spcPts val="800"/>
              </a:spcAft>
            </a:pPr>
            <a:r>
              <a:rPr sz="1300" b="1" i="0">
                <a:solidFill>
                  <a:srgbClr val="63637E"/>
                </a:solidFill>
                <a:latin typeface="Calibri"/>
              </a:rPr>
              <a:t>Turn-taking agent: </a:t>
            </a:r>
            <a:r>
              <a:rPr sz="1300" b="0" i="0">
                <a:solidFill>
                  <a:srgbClr val="14142B"/>
                </a:solidFill>
                <a:latin typeface="Calibri"/>
              </a:rPr>
              <a:t>route to airport, then route to office. </a:t>
            </a:r>
            <a:r>
              <a:rPr sz="1300" b="1" i="0">
                <a:solidFill>
                  <a:srgbClr val="C2415B"/>
                </a:solidFill>
                <a:latin typeface="Calibri"/>
              </a:rPr>
              <a:t>Two calls are logged, so the benchmark fails the scenario.</a:t>
            </a:r>
          </a:p>
          <a:p>
            <a:pPr algn="l">
              <a:lnSpc>
                <a:spcPct val="105000"/>
              </a:lnSpc>
              <a:spcAft>
                <a:spcPts val="0"/>
              </a:spcAft>
            </a:pPr>
            <a:r>
              <a:rPr sz="1300" b="1" i="0">
                <a:solidFill>
                  <a:srgbClr val="63637E"/>
                </a:solidFill>
                <a:latin typeface="Calibri"/>
              </a:rPr>
              <a:t>PRISM Duplex: </a:t>
            </a:r>
            <a:r>
              <a:rPr sz="1300" b="1" i="0">
                <a:solidFill>
                  <a:srgbClr val="6D28D9"/>
                </a:solidFill>
                <a:latin typeface="Calibri"/>
              </a:rPr>
              <a:t>one route call, to the office, sent after you finish.</a:t>
            </a:r>
          </a:p>
        </p:txBody>
      </p:sp>
      <p:sp>
        <p:nvSpPr>
          <p:cNvPr id="104" name="TextBox 103"/>
          <p:cNvSpPr txBox="1"/>
          <p:nvPr/>
        </p:nvSpPr>
        <p:spPr>
          <a:xfrm>
            <a:off x="841248" y="4160520"/>
            <a:ext cx="5486400" cy="274320"/>
          </a:xfrm>
          <a:prstGeom prst="rect">
            <a:avLst/>
          </a:prstGeom>
          <a:noFill/>
        </p:spPr>
        <p:txBody>
          <a:bodyPr wrap="square" lIns="0" tIns="0" rIns="0" bIns="0" anchor="t">
            <a:spAutoFit/>
          </a:bodyPr>
          <a:lstStyle/>
          <a:p>
            <a:pPr algn="l">
              <a:spcAft>
                <a:spcPts val="0"/>
              </a:spcAft>
            </a:pPr>
            <a:r>
              <a:rPr sz="1300" b="1" i="0">
                <a:solidFill>
                  <a:srgbClr val="63637E"/>
                </a:solidFill>
                <a:latin typeface="Calibri"/>
              </a:rPr>
              <a:t>The brief asks for all three at once</a:t>
            </a:r>
          </a:p>
        </p:txBody>
      </p:sp>
      <p:sp>
        <p:nvSpPr>
          <p:cNvPr id="105" name="Stay responsive"/>
          <p:cNvSpPr/>
          <p:nvPr/>
        </p:nvSpPr>
        <p:spPr>
          <a:xfrm>
            <a:off x="841248" y="4526280"/>
            <a:ext cx="3328416" cy="1325880"/>
          </a:xfrm>
          <a:prstGeom prst="roundRect">
            <a:avLst>
              <a:gd name="adj" fmla="val 5517"/>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t"/>
          <a:lstStyle/>
          <a:p>
            <a:pPr algn="l">
              <a:spcAft>
                <a:spcPts val="600"/>
              </a:spcAft>
            </a:pPr>
            <a:r>
              <a:rPr sz="1800" b="1" i="0">
                <a:solidFill>
                  <a:srgbClr val="6D28D9"/>
                </a:solidFill>
                <a:latin typeface="Calibri"/>
              </a:rPr>
              <a:t>Stay responsive</a:t>
            </a:r>
          </a:p>
          <a:p>
            <a:pPr algn="l">
              <a:lnSpc>
                <a:spcPct val="105000"/>
              </a:lnSpc>
              <a:spcAft>
                <a:spcPts val="0"/>
              </a:spcAft>
            </a:pPr>
            <a:r>
              <a:rPr sz="1400" b="0" i="0">
                <a:solidFill>
                  <a:srgbClr val="14142B"/>
                </a:solidFill>
                <a:latin typeface="Calibri"/>
              </a:rPr>
              <a:t>Meaningful spoken feedback within a few hundred milliseconds. No dead air, no false “done”.</a:t>
            </a:r>
          </a:p>
        </p:txBody>
      </p:sp>
      <p:sp>
        <p:nvSpPr>
          <p:cNvPr id="106" name="Work asynchronously"/>
          <p:cNvSpPr/>
          <p:nvPr/>
        </p:nvSpPr>
        <p:spPr>
          <a:xfrm>
            <a:off x="4434840" y="4526280"/>
            <a:ext cx="3328416" cy="1325880"/>
          </a:xfrm>
          <a:prstGeom prst="roundRect">
            <a:avLst>
              <a:gd name="adj" fmla="val 5517"/>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t"/>
          <a:lstStyle/>
          <a:p>
            <a:pPr algn="l">
              <a:spcAft>
                <a:spcPts val="600"/>
              </a:spcAft>
            </a:pPr>
            <a:r>
              <a:rPr sz="1800" b="1" i="0">
                <a:solidFill>
                  <a:srgbClr val="6D28D9"/>
                </a:solidFill>
                <a:latin typeface="Calibri"/>
              </a:rPr>
              <a:t>Work asynchronously</a:t>
            </a:r>
          </a:p>
          <a:p>
            <a:pPr algn="l">
              <a:lnSpc>
                <a:spcPct val="105000"/>
              </a:lnSpc>
              <a:spcAft>
                <a:spcPts val="0"/>
              </a:spcAft>
            </a:pPr>
            <a:r>
              <a:rPr sz="1400" b="0" i="0">
                <a:solidFill>
                  <a:srgbClr val="14142B"/>
                </a:solidFill>
                <a:latin typeface="Calibri"/>
              </a:rPr>
              <a:t>Tool calls and reasoning run in the background without blocking the conversation.</a:t>
            </a:r>
          </a:p>
        </p:txBody>
      </p:sp>
      <p:sp>
        <p:nvSpPr>
          <p:cNvPr id="107" name="Recover cleanly"/>
          <p:cNvSpPr/>
          <p:nvPr/>
        </p:nvSpPr>
        <p:spPr>
          <a:xfrm>
            <a:off x="8028432" y="4526280"/>
            <a:ext cx="3328416" cy="1325880"/>
          </a:xfrm>
          <a:prstGeom prst="roundRect">
            <a:avLst>
              <a:gd name="adj" fmla="val 5517"/>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t"/>
          <a:lstStyle/>
          <a:p>
            <a:pPr algn="l">
              <a:spcAft>
                <a:spcPts val="600"/>
              </a:spcAft>
            </a:pPr>
            <a:r>
              <a:rPr sz="1800" b="1" i="0">
                <a:solidFill>
                  <a:srgbClr val="6D28D9"/>
                </a:solidFill>
                <a:latin typeface="Calibri"/>
              </a:rPr>
              <a:t>Recover cleanly</a:t>
            </a:r>
          </a:p>
          <a:p>
            <a:pPr algn="l">
              <a:lnSpc>
                <a:spcPct val="105000"/>
              </a:lnSpc>
              <a:spcAft>
                <a:spcPts val="0"/>
              </a:spcAft>
            </a:pPr>
            <a:r>
              <a:rPr sz="1400" b="0" i="0">
                <a:solidFill>
                  <a:srgbClr val="14142B"/>
                </a:solidFill>
                <a:latin typeface="Calibri"/>
              </a:rPr>
              <a:t>Discard stale intent, update tool arguments, and never repeat a state-changing 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Existing Solutions &amp; Gaps</a:t>
            </a:r>
            <a:endParaRPr/>
          </a:p>
        </p:txBody>
      </p:sp>
      <p:sp>
        <p:nvSpPr>
          <p:cNvPr id="108" name="TextBox 107"/>
          <p:cNvSpPr txBox="1"/>
          <p:nvPr/>
        </p:nvSpPr>
        <p:spPr>
          <a:xfrm>
            <a:off x="841248" y="1828800"/>
            <a:ext cx="5029200" cy="320040"/>
          </a:xfrm>
          <a:prstGeom prst="rect">
            <a:avLst/>
          </a:prstGeom>
          <a:noFill/>
        </p:spPr>
        <p:txBody>
          <a:bodyPr wrap="square" lIns="0" tIns="0" rIns="0" bIns="0" anchor="t">
            <a:spAutoFit/>
          </a:bodyPr>
          <a:lstStyle/>
          <a:p>
            <a:pPr algn="l">
              <a:spcAft>
                <a:spcPts val="0"/>
              </a:spcAft>
            </a:pPr>
            <a:r>
              <a:rPr sz="1800" b="1" i="0">
                <a:solidFill>
                  <a:srgbClr val="14142B"/>
                </a:solidFill>
                <a:latin typeface="Calibri"/>
              </a:rPr>
              <a:t>What exists today</a:t>
            </a:r>
          </a:p>
        </p:txBody>
      </p:sp>
      <p:sp>
        <p:nvSpPr>
          <p:cNvPr id="109" name="Native speech-to-speech models"/>
          <p:cNvSpPr/>
          <p:nvPr/>
        </p:nvSpPr>
        <p:spPr>
          <a:xfrm>
            <a:off x="841248" y="2286000"/>
            <a:ext cx="5029200" cy="1143000"/>
          </a:xfrm>
          <a:prstGeom prst="roundRect">
            <a:avLst>
              <a:gd name="adj" fmla="val 6400"/>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64592" tIns="123444" rIns="164592" bIns="123444" rtlCol="0" anchor="t"/>
          <a:lstStyle/>
          <a:p>
            <a:pPr algn="l">
              <a:spcAft>
                <a:spcPts val="400"/>
              </a:spcAft>
            </a:pPr>
            <a:r>
              <a:rPr sz="1500" b="1" i="0">
                <a:solidFill>
                  <a:srgbClr val="14142B"/>
                </a:solidFill>
                <a:latin typeface="Calibri"/>
              </a:rPr>
              <a:t>Native speech-to-speech models</a:t>
            </a:r>
          </a:p>
          <a:p>
            <a:pPr algn="l">
              <a:lnSpc>
                <a:spcPct val="105000"/>
              </a:lnSpc>
              <a:spcAft>
                <a:spcPts val="0"/>
              </a:spcAft>
            </a:pPr>
            <a:r>
              <a:rPr sz="1300" b="0" i="0">
                <a:solidFill>
                  <a:srgbClr val="63637E"/>
                </a:solidFill>
                <a:latin typeface="Calibri"/>
              </a:rPr>
              <a:t>GPT Realtime, Gemini Live, Grok, Ultravox: fast and natural, but hosted, and when a tool call fires is up to the model.</a:t>
            </a:r>
          </a:p>
        </p:txBody>
      </p:sp>
      <p:sp>
        <p:nvSpPr>
          <p:cNvPr id="110" name="Cascaded pipelines"/>
          <p:cNvSpPr/>
          <p:nvPr/>
        </p:nvSpPr>
        <p:spPr>
          <a:xfrm>
            <a:off x="841248" y="3584448"/>
            <a:ext cx="5029200" cy="1143000"/>
          </a:xfrm>
          <a:prstGeom prst="roundRect">
            <a:avLst>
              <a:gd name="adj" fmla="val 6400"/>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64592" tIns="123444" rIns="164592" bIns="123444" rtlCol="0" anchor="t"/>
          <a:lstStyle/>
          <a:p>
            <a:pPr algn="l">
              <a:spcAft>
                <a:spcPts val="400"/>
              </a:spcAft>
            </a:pPr>
            <a:r>
              <a:rPr sz="1500" b="1" i="0">
                <a:solidFill>
                  <a:srgbClr val="14142B"/>
                </a:solidFill>
                <a:latin typeface="Calibri"/>
              </a:rPr>
              <a:t>Cascaded pipelines</a:t>
            </a:r>
          </a:p>
          <a:p>
            <a:pPr algn="l">
              <a:lnSpc>
                <a:spcPct val="105000"/>
              </a:lnSpc>
              <a:spcAft>
                <a:spcPts val="0"/>
              </a:spcAft>
            </a:pPr>
            <a:r>
              <a:rPr sz="1300" b="0" i="0">
                <a:solidFill>
                  <a:srgbClr val="63637E"/>
                </a:solidFill>
                <a:latin typeface="Calibri"/>
              </a:rPr>
              <a:t>Whisper, then GPT-4o, then TTS: modular, but each stage waits for the last, so the agent acts on whatever turn it heard.</a:t>
            </a:r>
          </a:p>
        </p:txBody>
      </p:sp>
      <p:sp>
        <p:nvSpPr>
          <p:cNvPr id="111" name="Voice-agent frameworks"/>
          <p:cNvSpPr/>
          <p:nvPr/>
        </p:nvSpPr>
        <p:spPr>
          <a:xfrm>
            <a:off x="841248" y="4882896"/>
            <a:ext cx="5029200" cy="1143000"/>
          </a:xfrm>
          <a:prstGeom prst="roundRect">
            <a:avLst>
              <a:gd name="adj" fmla="val 6400"/>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64592" tIns="123444" rIns="164592" bIns="123444" rtlCol="0" anchor="t"/>
          <a:lstStyle/>
          <a:p>
            <a:pPr algn="l">
              <a:spcAft>
                <a:spcPts val="400"/>
              </a:spcAft>
            </a:pPr>
            <a:r>
              <a:rPr sz="1500" b="1" i="0">
                <a:solidFill>
                  <a:srgbClr val="14142B"/>
                </a:solidFill>
                <a:latin typeface="Calibri"/>
              </a:rPr>
              <a:t>Voice-agent frameworks</a:t>
            </a:r>
          </a:p>
          <a:p>
            <a:pPr algn="l">
              <a:lnSpc>
                <a:spcPct val="105000"/>
              </a:lnSpc>
              <a:spcAft>
                <a:spcPts val="0"/>
              </a:spcAft>
            </a:pPr>
            <a:r>
              <a:rPr sz="1300" b="0" i="0">
                <a:solidFill>
                  <a:srgbClr val="63637E"/>
                </a:solidFill>
                <a:latin typeface="Calibri"/>
              </a:rPr>
              <a:t>LiveKit Agents and similar handle audio, voice activity and stopping speech. Which tool calls are still valid is left to the application.</a:t>
            </a:r>
          </a:p>
        </p:txBody>
      </p:sp>
      <p:sp>
        <p:nvSpPr>
          <p:cNvPr id="112" name="TextBox 111"/>
          <p:cNvSpPr txBox="1"/>
          <p:nvPr/>
        </p:nvSpPr>
        <p:spPr>
          <a:xfrm>
            <a:off x="6327648" y="1828800"/>
            <a:ext cx="5029200" cy="320040"/>
          </a:xfrm>
          <a:prstGeom prst="rect">
            <a:avLst/>
          </a:prstGeom>
          <a:noFill/>
        </p:spPr>
        <p:txBody>
          <a:bodyPr wrap="square" lIns="0" tIns="0" rIns="0" bIns="0" anchor="t">
            <a:spAutoFit/>
          </a:bodyPr>
          <a:lstStyle/>
          <a:p>
            <a:pPr algn="l">
              <a:spcAft>
                <a:spcPts val="0"/>
              </a:spcAft>
            </a:pPr>
            <a:r>
              <a:rPr sz="1800" b="1" i="0">
                <a:solidFill>
                  <a:srgbClr val="14142B"/>
                </a:solidFill>
                <a:latin typeface="Calibri"/>
              </a:rPr>
              <a:t>Gaps we target</a:t>
            </a:r>
          </a:p>
        </p:txBody>
      </p:sp>
      <p:sp>
        <p:nvSpPr>
          <p:cNvPr id="113" name="Gaps"/>
          <p:cNvSpPr txBox="1"/>
          <p:nvPr/>
        </p:nvSpPr>
        <p:spPr>
          <a:xfrm>
            <a:off x="6327648" y="2286000"/>
            <a:ext cx="5029200" cy="3200400"/>
          </a:xfrm>
          <a:prstGeom prst="rect">
            <a:avLst/>
          </a:prstGeom>
          <a:noFill/>
        </p:spPr>
        <p:txBody>
          <a:bodyPr wrap="square" lIns="0" tIns="0" rIns="0" bIns="0" anchor="t">
            <a:spAutoFit/>
          </a:bodyPr>
          <a:lstStyle/>
          <a:p>
            <a:pPr marL="201168" indent="-201168" algn="l">
              <a:spcAft>
                <a:spcPts val="100"/>
              </a:spcAft>
              <a:buClr>
                <a:srgbClr val="C2415B"/>
              </a:buClr>
              <a:buSzPct val="100000"/>
              <a:buFont typeface="Arial"/>
              <a:buChar char="•"/>
            </a:pPr>
            <a:r>
              <a:rPr sz="1500" b="1" i="0">
                <a:solidFill>
                  <a:srgbClr val="14142B"/>
                </a:solidFill>
                <a:latin typeface="Calibri"/>
              </a:rPr>
              <a:t>Acting on half a sentence</a:t>
            </a:r>
          </a:p>
          <a:p>
            <a:pPr marL="201168" algn="l">
              <a:lnSpc>
                <a:spcPct val="105000"/>
              </a:lnSpc>
              <a:spcAft>
                <a:spcPts val="1200"/>
              </a:spcAft>
            </a:pPr>
            <a:r>
              <a:rPr sz="1300" b="0" i="0">
                <a:solidFill>
                  <a:srgbClr val="63637E"/>
                </a:solidFill>
                <a:latin typeface="Calibri"/>
              </a:rPr>
              <a:t>A pause looks like the end of a turn, so a stale call fires before the correction.</a:t>
            </a:r>
          </a:p>
          <a:p>
            <a:pPr marL="201168" indent="-201168" algn="l">
              <a:spcAft>
                <a:spcPts val="100"/>
              </a:spcAft>
              <a:buClr>
                <a:srgbClr val="C2415B"/>
              </a:buClr>
              <a:buSzPct val="100000"/>
              <a:buFont typeface="Arial"/>
              <a:buChar char="•"/>
            </a:pPr>
            <a:r>
              <a:rPr sz="1500" b="1" i="0">
                <a:solidFill>
                  <a:srgbClr val="14142B"/>
                </a:solidFill>
                <a:latin typeface="Calibri"/>
              </a:rPr>
              <a:t>No guard on repeated actions</a:t>
            </a:r>
          </a:p>
          <a:p>
            <a:pPr marL="201168" algn="l">
              <a:lnSpc>
                <a:spcPct val="105000"/>
              </a:lnSpc>
              <a:spcAft>
                <a:spcPts val="1200"/>
              </a:spcAft>
            </a:pPr>
            <a:r>
              <a:rPr sz="1300" b="0" i="0">
                <a:solidFill>
                  <a:srgbClr val="63637E"/>
                </a:solidFill>
                <a:latin typeface="Calibri"/>
              </a:rPr>
              <a:t>Nothing stops a retried or repeated request from booking twice.</a:t>
            </a:r>
          </a:p>
          <a:p>
            <a:pPr marL="201168" indent="-201168" algn="l">
              <a:spcAft>
                <a:spcPts val="100"/>
              </a:spcAft>
              <a:buClr>
                <a:srgbClr val="C2415B"/>
              </a:buClr>
              <a:buSzPct val="100000"/>
              <a:buFont typeface="Arial"/>
              <a:buChar char="•"/>
            </a:pPr>
            <a:r>
              <a:rPr sz="1500" b="1" i="0">
                <a:solidFill>
                  <a:srgbClr val="14142B"/>
                </a:solidFill>
                <a:latin typeface="Calibri"/>
              </a:rPr>
              <a:t>Dead air or a false “done”</a:t>
            </a:r>
          </a:p>
          <a:p>
            <a:pPr marL="201168" algn="l">
              <a:lnSpc>
                <a:spcPct val="105000"/>
              </a:lnSpc>
              <a:spcAft>
                <a:spcPts val="1200"/>
              </a:spcAft>
            </a:pPr>
            <a:r>
              <a:rPr sz="1300" b="0" i="0">
                <a:solidFill>
                  <a:srgbClr val="63637E"/>
                </a:solidFill>
                <a:latin typeface="Calibri"/>
              </a:rPr>
              <a:t>Silence while tools run, or completion claimed before it happened.</a:t>
            </a:r>
          </a:p>
          <a:p>
            <a:pPr marL="201168" indent="-201168" algn="l">
              <a:spcAft>
                <a:spcPts val="100"/>
              </a:spcAft>
              <a:buClr>
                <a:srgbClr val="C2415B"/>
              </a:buClr>
              <a:buSzPct val="100000"/>
              <a:buFont typeface="Arial"/>
              <a:buChar char="•"/>
            </a:pPr>
            <a:r>
              <a:rPr sz="1500" b="1" i="0">
                <a:solidFill>
                  <a:srgbClr val="14142B"/>
                </a:solidFill>
                <a:latin typeface="Calibri"/>
              </a:rPr>
              <a:t>Long tool chains</a:t>
            </a:r>
          </a:p>
          <a:p>
            <a:pPr marL="201168" algn="l">
              <a:lnSpc>
                <a:spcPct val="105000"/>
              </a:lnSpc>
              <a:spcAft>
                <a:spcPts val="1200"/>
              </a:spcAft>
            </a:pPr>
            <a:r>
              <a:rPr sz="1300" b="0" i="0">
                <a:solidFill>
                  <a:srgbClr val="63637E"/>
                </a:solidFill>
                <a:latin typeface="Calibri"/>
              </a:rPr>
              <a:t>Multi-step requests break when a later call needs an earlier result.</a:t>
            </a:r>
          </a:p>
        </p:txBody>
      </p:sp>
      <p:sp>
        <p:nvSpPr>
          <p:cNvPr id="114" name="Guide note"/>
          <p:cNvSpPr/>
          <p:nvPr/>
        </p:nvSpPr>
        <p:spPr>
          <a:xfrm>
            <a:off x="6327648" y="5248656"/>
            <a:ext cx="5029200" cy="777240"/>
          </a:xfrm>
          <a:prstGeom prst="roundRect">
            <a:avLst>
              <a:gd name="adj" fmla="val 9411"/>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3444" rIns="164592" bIns="123444" rtlCol="0" anchor="ctr"/>
          <a:lstStyle/>
          <a:p>
            <a:pPr algn="l">
              <a:lnSpc>
                <a:spcPct val="105000"/>
              </a:lnSpc>
              <a:spcAft>
                <a:spcPts val="0"/>
              </a:spcAft>
            </a:pPr>
            <a:r>
              <a:rPr sz="1300" b="0" i="1">
                <a:solidFill>
                  <a:srgbClr val="14142B"/>
                </a:solidFill>
                <a:latin typeface="Calibri"/>
              </a:rPr>
              <a:t>The organizers’ guide notes that self-correction and multi-step tool chains are where published systems lose the most points.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909917" y="2665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Our Solutions &amp; Architecture Diagram</a:t>
            </a:r>
            <a:endParaRPr/>
          </a:p>
        </p:txBody>
      </p:sp>
      <p:sp>
        <p:nvSpPr>
          <p:cNvPr id="114" name="Solution summary"/>
          <p:cNvSpPr txBox="1"/>
          <p:nvPr/>
        </p:nvSpPr>
        <p:spPr>
          <a:xfrm>
            <a:off x="914400" y="1691640"/>
            <a:ext cx="10424160" cy="365760"/>
          </a:xfrm>
          <a:prstGeom prst="rect">
            <a:avLst/>
          </a:prstGeom>
          <a:noFill/>
        </p:spPr>
        <p:txBody>
          <a:bodyPr wrap="square" lIns="0" tIns="0" rIns="0" bIns="0" anchor="t">
            <a:spAutoFit/>
          </a:bodyPr>
          <a:lstStyle/>
          <a:p>
            <a:pPr algn="l">
              <a:spcAft>
                <a:spcPts val="0"/>
              </a:spcAft>
            </a:pPr>
            <a:r>
              <a:rPr sz="1400" b="0" i="0">
                <a:solidFill>
                  <a:srgbClr val="63637E"/>
                </a:solidFill>
                <a:latin typeface="Calibri"/>
              </a:rPr>
              <a:t>A custom LiveKit voice agent: the fast path keeps talking, the coordinator decides when to act, the slow path does the work.</a:t>
            </a:r>
          </a:p>
        </p:txBody>
      </p:sp>
      <p:sp>
        <p:nvSpPr>
          <p:cNvPr id="115" name="Room audio"/>
          <p:cNvSpPr/>
          <p:nvPr/>
        </p:nvSpPr>
        <p:spPr>
          <a:xfrm>
            <a:off x="2468880" y="2240280"/>
            <a:ext cx="2011680" cy="822960"/>
          </a:xfrm>
          <a:prstGeom prst="roundRect">
            <a:avLst>
              <a:gd name="adj" fmla="val 8888"/>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Room audio</a:t>
            </a:r>
          </a:p>
          <a:p>
            <a:pPr algn="l">
              <a:lnSpc>
                <a:spcPct val="100000"/>
              </a:lnSpc>
              <a:spcAft>
                <a:spcPts val="0"/>
              </a:spcAft>
            </a:pPr>
            <a:r>
              <a:rPr sz="1200" b="0" i="0">
                <a:solidFill>
                  <a:srgbClr val="63637E"/>
                </a:solidFill>
                <a:latin typeface="Calibri"/>
              </a:rPr>
              <a:t>mic or benchmark WAV via LiveKit</a:t>
            </a:r>
          </a:p>
        </p:txBody>
      </p:sp>
      <p:sp>
        <p:nvSpPr>
          <p:cNvPr id="116" name="Speech to text"/>
          <p:cNvSpPr/>
          <p:nvPr/>
        </p:nvSpPr>
        <p:spPr>
          <a:xfrm>
            <a:off x="4754880" y="2240280"/>
            <a:ext cx="2011680" cy="822960"/>
          </a:xfrm>
          <a:prstGeom prst="roundRect">
            <a:avLst>
              <a:gd name="adj" fmla="val 8888"/>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Speech to text</a:t>
            </a:r>
          </a:p>
          <a:p>
            <a:pPr algn="l">
              <a:lnSpc>
                <a:spcPct val="100000"/>
              </a:lnSpc>
              <a:spcAft>
                <a:spcPts val="0"/>
              </a:spcAft>
            </a:pPr>
            <a:r>
              <a:rPr sz="1200" b="0" i="0">
                <a:solidFill>
                  <a:srgbClr val="63637E"/>
                </a:solidFill>
                <a:latin typeface="Calibri"/>
              </a:rPr>
              <a:t>Silero VAD, then Parakeet</a:t>
            </a:r>
          </a:p>
        </p:txBody>
      </p:sp>
      <p:sp>
        <p:nvSpPr>
          <p:cNvPr id="117" name="Acknowledge"/>
          <p:cNvSpPr/>
          <p:nvPr/>
        </p:nvSpPr>
        <p:spPr>
          <a:xfrm>
            <a:off x="7040880" y="2240280"/>
            <a:ext cx="2011680" cy="822960"/>
          </a:xfrm>
          <a:prstGeom prst="roundRect">
            <a:avLst>
              <a:gd name="adj" fmla="val 8888"/>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Acknowledge</a:t>
            </a:r>
          </a:p>
          <a:p>
            <a:pPr algn="l">
              <a:lnSpc>
                <a:spcPct val="100000"/>
              </a:lnSpc>
              <a:spcAft>
                <a:spcPts val="0"/>
              </a:spcAft>
            </a:pPr>
            <a:r>
              <a:rPr sz="1200" b="0" i="0">
                <a:solidFill>
                  <a:srgbClr val="63637E"/>
                </a:solidFill>
                <a:latin typeface="Calibri"/>
              </a:rPr>
              <a:t>“One moment.” if planning is slow</a:t>
            </a:r>
          </a:p>
        </p:txBody>
      </p:sp>
      <p:sp>
        <p:nvSpPr>
          <p:cNvPr id="118" name="Intent resolver"/>
          <p:cNvSpPr/>
          <p:nvPr/>
        </p:nvSpPr>
        <p:spPr>
          <a:xfrm>
            <a:off x="4754880" y="3520440"/>
            <a:ext cx="2011680" cy="822960"/>
          </a:xfrm>
          <a:prstGeom prst="roundRect">
            <a:avLst>
              <a:gd name="adj" fmla="val 8888"/>
            </a:avLst>
          </a:prstGeom>
          <a:solidFill>
            <a:srgbClr val="FDF3DC"/>
          </a:solidFill>
          <a:ln w="9525">
            <a:solidFill>
              <a:srgbClr val="E8C986"/>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Intent resolver</a:t>
            </a:r>
          </a:p>
          <a:p>
            <a:pPr algn="l">
              <a:lnSpc>
                <a:spcPct val="100000"/>
              </a:lnSpc>
              <a:spcAft>
                <a:spcPts val="0"/>
              </a:spcAft>
            </a:pPr>
            <a:r>
              <a:rPr sz="1200" b="0" i="0">
                <a:solidFill>
                  <a:srgbClr val="63637E"/>
                </a:solidFill>
                <a:latin typeface="Calibri"/>
              </a:rPr>
              <a:t>Qwen3 plan; the last value wins</a:t>
            </a:r>
          </a:p>
        </p:txBody>
      </p:sp>
      <p:sp>
        <p:nvSpPr>
          <p:cNvPr id="119" name="Commit gate"/>
          <p:cNvSpPr/>
          <p:nvPr/>
        </p:nvSpPr>
        <p:spPr>
          <a:xfrm>
            <a:off x="7040880" y="3520440"/>
            <a:ext cx="2011680" cy="822960"/>
          </a:xfrm>
          <a:prstGeom prst="roundRect">
            <a:avLst>
              <a:gd name="adj" fmla="val 8888"/>
            </a:avLst>
          </a:prstGeom>
          <a:solidFill>
            <a:srgbClr val="FDF3DC"/>
          </a:solidFill>
          <a:ln w="9525">
            <a:solidFill>
              <a:srgbClr val="E8C986"/>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Commit gate</a:t>
            </a:r>
          </a:p>
          <a:p>
            <a:pPr algn="l">
              <a:lnSpc>
                <a:spcPct val="100000"/>
              </a:lnSpc>
              <a:spcAft>
                <a:spcPts val="0"/>
              </a:spcAft>
            </a:pPr>
            <a:r>
              <a:rPr sz="1200" b="0" i="0">
                <a:solidFill>
                  <a:srgbClr val="63637E"/>
                </a:solidFill>
                <a:latin typeface="Calibri"/>
              </a:rPr>
              <a:t>waits 350–700 ms for more words</a:t>
            </a:r>
          </a:p>
        </p:txBody>
      </p:sp>
      <p:sp>
        <p:nvSpPr>
          <p:cNvPr id="120" name="Ledger"/>
          <p:cNvSpPr/>
          <p:nvPr/>
        </p:nvSpPr>
        <p:spPr>
          <a:xfrm>
            <a:off x="9326880" y="3520440"/>
            <a:ext cx="2011680" cy="822960"/>
          </a:xfrm>
          <a:prstGeom prst="roundRect">
            <a:avLst>
              <a:gd name="adj" fmla="val 8888"/>
            </a:avLst>
          </a:prstGeom>
          <a:solidFill>
            <a:srgbClr val="FDF3DC"/>
          </a:solidFill>
          <a:ln w="9525">
            <a:solidFill>
              <a:srgbClr val="E8C986"/>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Ledger</a:t>
            </a:r>
          </a:p>
          <a:p>
            <a:pPr algn="l">
              <a:lnSpc>
                <a:spcPct val="100000"/>
              </a:lnSpc>
              <a:spcAft>
                <a:spcPts val="0"/>
              </a:spcAft>
            </a:pPr>
            <a:r>
              <a:rPr sz="1200" b="0" i="0">
                <a:solidFill>
                  <a:srgbClr val="63637E"/>
                </a:solidFill>
                <a:latin typeface="Calibri"/>
              </a:rPr>
              <a:t>blocks an identical write</a:t>
            </a:r>
          </a:p>
        </p:txBody>
      </p:sp>
      <p:sp>
        <p:nvSpPr>
          <p:cNvPr id="121" name="Executor"/>
          <p:cNvSpPr/>
          <p:nvPr/>
        </p:nvSpPr>
        <p:spPr>
          <a:xfrm>
            <a:off x="9326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Executor</a:t>
            </a:r>
          </a:p>
          <a:p>
            <a:pPr algn="l">
              <a:lnSpc>
                <a:spcPct val="100000"/>
              </a:lnSpc>
              <a:spcAft>
                <a:spcPts val="0"/>
              </a:spcAft>
            </a:pPr>
            <a:r>
              <a:rPr sz="1200" b="0" i="0">
                <a:solidFill>
                  <a:srgbClr val="63637E"/>
                </a:solidFill>
                <a:latin typeface="Calibri"/>
              </a:rPr>
              <a:t>async calls; stale reads cancelled</a:t>
            </a:r>
          </a:p>
        </p:txBody>
      </p:sp>
      <p:sp>
        <p:nvSpPr>
          <p:cNvPr id="122" name="Tools"/>
          <p:cNvSpPr/>
          <p:nvPr/>
        </p:nvSpPr>
        <p:spPr>
          <a:xfrm>
            <a:off x="7040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Tools</a:t>
            </a:r>
          </a:p>
          <a:p>
            <a:pPr algn="l">
              <a:lnSpc>
                <a:spcPct val="100000"/>
              </a:lnSpc>
              <a:spcAft>
                <a:spcPts val="0"/>
              </a:spcAft>
            </a:pPr>
            <a:r>
              <a:rPr sz="1200" b="0" i="0">
                <a:solidFill>
                  <a:srgbClr val="63637E"/>
                </a:solidFill>
                <a:latin typeface="Calibri"/>
              </a:rPr>
              <a:t>FDB-v3 mocks or the car backend</a:t>
            </a:r>
          </a:p>
        </p:txBody>
      </p:sp>
      <p:sp>
        <p:nvSpPr>
          <p:cNvPr id="123" name="Responder"/>
          <p:cNvSpPr/>
          <p:nvPr/>
        </p:nvSpPr>
        <p:spPr>
          <a:xfrm>
            <a:off x="4754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Responder</a:t>
            </a:r>
          </a:p>
          <a:p>
            <a:pPr algn="l">
              <a:lnSpc>
                <a:spcPct val="100000"/>
              </a:lnSpc>
              <a:spcAft>
                <a:spcPts val="0"/>
              </a:spcAft>
            </a:pPr>
            <a:r>
              <a:rPr sz="1200" b="0" i="0">
                <a:solidFill>
                  <a:srgbClr val="63637E"/>
                </a:solidFill>
                <a:latin typeface="Calibri"/>
              </a:rPr>
              <a:t>a reply grounded in results</a:t>
            </a:r>
          </a:p>
        </p:txBody>
      </p:sp>
      <p:sp>
        <p:nvSpPr>
          <p:cNvPr id="124" name="Spoken reply"/>
          <p:cNvSpPr/>
          <p:nvPr/>
        </p:nvSpPr>
        <p:spPr>
          <a:xfrm>
            <a:off x="2468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09728" tIns="82296" rIns="109728" bIns="82296" rtlCol="0" anchor="ctr"/>
          <a:lstStyle/>
          <a:p>
            <a:pPr algn="l">
              <a:spcAft>
                <a:spcPts val="200"/>
              </a:spcAft>
            </a:pPr>
            <a:r>
              <a:rPr sz="1400" b="1" i="0">
                <a:solidFill>
                  <a:srgbClr val="14142B"/>
                </a:solidFill>
                <a:latin typeface="Calibri"/>
              </a:rPr>
              <a:t>Spoken reply</a:t>
            </a:r>
          </a:p>
          <a:p>
            <a:pPr algn="l">
              <a:lnSpc>
                <a:spcPct val="100000"/>
              </a:lnSpc>
              <a:spcAft>
                <a:spcPts val="0"/>
              </a:spcAft>
            </a:pPr>
            <a:r>
              <a:rPr sz="1200" b="0" i="0">
                <a:solidFill>
                  <a:srgbClr val="63637E"/>
                </a:solidFill>
                <a:latin typeface="Calibri"/>
              </a:rPr>
              <a:t>Kokoro-82M voice into the room</a:t>
            </a:r>
          </a:p>
        </p:txBody>
      </p:sp>
      <p:cxnSp>
        <p:nvCxnSpPr>
          <p:cNvPr id="125" name="Connector 124"/>
          <p:cNvCxnSpPr/>
          <p:nvPr/>
        </p:nvCxnSpPr>
        <p:spPr>
          <a:xfrm>
            <a:off x="4480560" y="265176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6766560" y="265176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6766560" y="393192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052560" y="393192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a:off x="9052560" y="52120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a:off x="6766560" y="52120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a:off x="4480560" y="52120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5760720" y="3063240"/>
            <a:ext cx="0" cy="45720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0332719" y="4343400"/>
            <a:ext cx="0" cy="45720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474720" y="3063240"/>
            <a:ext cx="0" cy="1737360"/>
          </a:xfrm>
          <a:prstGeom prst="line">
            <a:avLst/>
          </a:prstGeom>
          <a:ln w="19050">
            <a:solidFill>
              <a:srgbClr val="9A9AB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5" name="Fast path label"/>
          <p:cNvSpPr txBox="1"/>
          <p:nvPr/>
        </p:nvSpPr>
        <p:spPr>
          <a:xfrm>
            <a:off x="841248" y="2404872"/>
            <a:ext cx="1508760" cy="548640"/>
          </a:xfrm>
          <a:prstGeom prst="rect">
            <a:avLst/>
          </a:prstGeom>
          <a:noFill/>
        </p:spPr>
        <p:txBody>
          <a:bodyPr wrap="square" lIns="0" tIns="0" rIns="0" bIns="0" anchor="t">
            <a:spAutoFit/>
          </a:bodyPr>
          <a:lstStyle/>
          <a:p>
            <a:pPr algn="l">
              <a:spcAft>
                <a:spcPts val="0"/>
              </a:spcAft>
            </a:pPr>
            <a:r>
              <a:rPr sz="1500" b="1" i="0">
                <a:solidFill>
                  <a:srgbClr val="14142B"/>
                </a:solidFill>
                <a:latin typeface="Calibri"/>
              </a:rPr>
              <a:t>Fast path</a:t>
            </a:r>
          </a:p>
          <a:p>
            <a:pPr algn="l">
              <a:spcAft>
                <a:spcPts val="0"/>
              </a:spcAft>
            </a:pPr>
            <a:r>
              <a:rPr sz="1200" b="0" i="0">
                <a:solidFill>
                  <a:srgbClr val="63637E"/>
                </a:solidFill>
                <a:latin typeface="Calibri"/>
              </a:rPr>
              <a:t>keeps the floor</a:t>
            </a:r>
          </a:p>
        </p:txBody>
      </p:sp>
      <p:sp>
        <p:nvSpPr>
          <p:cNvPr id="136" name="Coordinator label"/>
          <p:cNvSpPr txBox="1"/>
          <p:nvPr/>
        </p:nvSpPr>
        <p:spPr>
          <a:xfrm>
            <a:off x="841248" y="3685032"/>
            <a:ext cx="1508760" cy="548640"/>
          </a:xfrm>
          <a:prstGeom prst="rect">
            <a:avLst/>
          </a:prstGeom>
          <a:noFill/>
        </p:spPr>
        <p:txBody>
          <a:bodyPr wrap="square" lIns="0" tIns="0" rIns="0" bIns="0" anchor="t">
            <a:spAutoFit/>
          </a:bodyPr>
          <a:lstStyle/>
          <a:p>
            <a:pPr algn="l">
              <a:spcAft>
                <a:spcPts val="0"/>
              </a:spcAft>
            </a:pPr>
            <a:r>
              <a:rPr sz="1500" b="1" i="0">
                <a:solidFill>
                  <a:srgbClr val="8A5A12"/>
                </a:solidFill>
                <a:latin typeface="Calibri"/>
              </a:rPr>
              <a:t>Coordinator</a:t>
            </a:r>
          </a:p>
          <a:p>
            <a:pPr algn="l">
              <a:spcAft>
                <a:spcPts val="0"/>
              </a:spcAft>
            </a:pPr>
            <a:r>
              <a:rPr sz="1200" b="0" i="0">
                <a:solidFill>
                  <a:srgbClr val="63637E"/>
                </a:solidFill>
                <a:latin typeface="Calibri"/>
              </a:rPr>
              <a:t>decides when to act</a:t>
            </a:r>
          </a:p>
        </p:txBody>
      </p:sp>
      <p:sp>
        <p:nvSpPr>
          <p:cNvPr id="137" name="Slow path label"/>
          <p:cNvSpPr txBox="1"/>
          <p:nvPr/>
        </p:nvSpPr>
        <p:spPr>
          <a:xfrm>
            <a:off x="841248" y="4965192"/>
            <a:ext cx="1508760" cy="548640"/>
          </a:xfrm>
          <a:prstGeom prst="rect">
            <a:avLst/>
          </a:prstGeom>
          <a:noFill/>
        </p:spPr>
        <p:txBody>
          <a:bodyPr wrap="square" lIns="0" tIns="0" rIns="0" bIns="0" anchor="t">
            <a:spAutoFit/>
          </a:bodyPr>
          <a:lstStyle/>
          <a:p>
            <a:pPr algn="l">
              <a:spcAft>
                <a:spcPts val="0"/>
              </a:spcAft>
            </a:pPr>
            <a:r>
              <a:rPr sz="1500" b="1" i="0">
                <a:solidFill>
                  <a:srgbClr val="6D28D9"/>
                </a:solidFill>
                <a:latin typeface="Calibri"/>
              </a:rPr>
              <a:t>Slow path</a:t>
            </a:r>
          </a:p>
          <a:p>
            <a:pPr algn="l">
              <a:spcAft>
                <a:spcPts val="0"/>
              </a:spcAft>
            </a:pPr>
            <a:r>
              <a:rPr sz="1200" b="0" i="0">
                <a:solidFill>
                  <a:srgbClr val="63637E"/>
                </a:solidFill>
                <a:latin typeface="Calibri"/>
              </a:rPr>
              <a:t>does the work</a:t>
            </a:r>
          </a:p>
        </p:txBody>
      </p:sp>
      <p:sp>
        <p:nvSpPr>
          <p:cNvPr id="138" name="Stack note"/>
          <p:cNvSpPr txBox="1"/>
          <p:nvPr/>
        </p:nvSpPr>
        <p:spPr>
          <a:xfrm>
            <a:off x="841248" y="5852160"/>
            <a:ext cx="10515600" cy="365760"/>
          </a:xfrm>
          <a:prstGeom prst="rect">
            <a:avLst/>
          </a:prstGeom>
          <a:noFill/>
        </p:spPr>
        <p:txBody>
          <a:bodyPr wrap="square" lIns="0" tIns="0" rIns="0" bIns="0" anchor="t">
            <a:spAutoFit/>
          </a:bodyPr>
          <a:lstStyle/>
          <a:p>
            <a:pPr algn="l">
              <a:spcAft>
                <a:spcPts val="0"/>
              </a:spcAft>
            </a:pPr>
            <a:r>
              <a:rPr sz="1300" b="0" i="0">
                <a:solidFill>
                  <a:srgbClr val="63637E"/>
                </a:solidFill>
                <a:latin typeface="Calibri"/>
              </a:rPr>
              <a:t>Runs locally: Qwen3 (MLX or vLLM), Parakeet-TDT 0.6B v2, Kokoro-82M and Silero VAD; LiveKit carries the audio. Every room gets its own coordinator, ledger and tool state.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pic>
        <p:nvPicPr>
          <p:cNvPr id="120" name="Live demo screenshot" descr="PRISM Duplex web demo: the user says “Navigate to the airport.”, the agent says “One moment.” and then starts navigation to Kempegowda International Airport, 88 minutes; the strip below shows the user talking over the agent."/>
          <p:cNvPicPr>
            <a:picLocks noChangeAspect="1"/>
          </p:cNvPicPr>
          <p:nvPr/>
        </p:nvPicPr>
        <p:blipFill>
          <a:blip r:embed="rId3"/>
          <a:stretch>
            <a:fillRect/>
          </a:stretch>
        </p:blipFill>
        <p:spPr>
          <a:xfrm>
            <a:off x="841248" y="1828800"/>
            <a:ext cx="6035040" cy="3498072"/>
          </a:xfrm>
          <a:prstGeom prst="rect">
            <a:avLst/>
          </a:prstGeom>
          <a:ln w="9525">
            <a:solidFill>
              <a:srgbClr val="D9D9E6"/>
            </a:solidFill>
          </a:ln>
        </p:spPr>
      </p:pic>
      <p:sp>
        <p:nvSpPr>
          <p:cNvPr id="121" name="Screenshot caption"/>
          <p:cNvSpPr txBox="1"/>
          <p:nvPr/>
        </p:nvSpPr>
        <p:spPr>
          <a:xfrm>
            <a:off x="841248" y="5440680"/>
            <a:ext cx="6035040" cy="731520"/>
          </a:xfrm>
          <a:prstGeom prst="rect">
            <a:avLst/>
          </a:prstGeom>
          <a:noFill/>
        </p:spPr>
        <p:txBody>
          <a:bodyPr wrap="square" lIns="0" tIns="0" rIns="0" bIns="0" anchor="t">
            <a:spAutoFit/>
          </a:bodyPr>
          <a:lstStyle/>
          <a:p>
            <a:pPr algn="l">
              <a:lnSpc>
                <a:spcPct val="105000"/>
              </a:lnSpc>
              <a:spcAft>
                <a:spcPts val="600"/>
              </a:spcAft>
            </a:pPr>
            <a:r>
              <a:rPr sz="1200" b="0" i="0">
                <a:solidFill>
                  <a:srgbClr val="63637E"/>
                </a:solidFill>
                <a:latin typeface="Calibri"/>
              </a:rPr>
              <a:t>Live run on 4 Oct 2026, local Mac with LiveKit Cloud. The strip at the bottom shows your voice above the line and the agent’s below.</a:t>
            </a:r>
          </a:p>
          <a:p>
            <a:pPr algn="l">
              <a:spcAft>
                <a:spcPts val="0"/>
              </a:spcAft>
            </a:pPr>
            <a:r>
              <a:rPr sz="1300" b="1" i="0">
                <a:solidFill>
                  <a:srgbClr val="14142B"/>
                </a:solidFill>
                <a:latin typeface="Calibri"/>
              </a:rPr>
              <a:t>Demo video: </a:t>
            </a:r>
          </a:p>
        </p:txBody>
      </p:sp>
      <p:sp>
        <p:nvSpPr>
          <p:cNvPr id="122" name="TextBox 121"/>
          <p:cNvSpPr txBox="1"/>
          <p:nvPr/>
        </p:nvSpPr>
        <p:spPr>
          <a:xfrm>
            <a:off x="7269480" y="1828800"/>
            <a:ext cx="4069080" cy="320040"/>
          </a:xfrm>
          <a:prstGeom prst="rect">
            <a:avLst/>
          </a:prstGeom>
          <a:noFill/>
        </p:spPr>
        <p:txBody>
          <a:bodyPr wrap="square" lIns="0" tIns="0" rIns="0" bIns="0" anchor="t">
            <a:spAutoFit/>
          </a:bodyPr>
          <a:lstStyle/>
          <a:p>
            <a:pPr algn="l">
              <a:spcAft>
                <a:spcPts val="0"/>
              </a:spcAft>
            </a:pPr>
            <a:r>
              <a:rPr sz="1800" b="1" i="0">
                <a:solidFill>
                  <a:srgbClr val="14142B"/>
                </a:solidFill>
                <a:latin typeface="Calibri"/>
              </a:rPr>
              <a:t>Walkthrough</a:t>
            </a:r>
          </a:p>
        </p:txBody>
      </p:sp>
      <p:sp>
        <p:nvSpPr>
          <p:cNvPr id="123" name="Step 1"/>
          <p:cNvSpPr/>
          <p:nvPr/>
        </p:nvSpPr>
        <p:spPr>
          <a:xfrm>
            <a:off x="7269480" y="228600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1</a:t>
            </a:r>
          </a:p>
        </p:txBody>
      </p:sp>
      <p:sp>
        <p:nvSpPr>
          <p:cNvPr id="124" name="Step 1 text"/>
          <p:cNvSpPr txBox="1"/>
          <p:nvPr/>
        </p:nvSpPr>
        <p:spPr>
          <a:xfrm>
            <a:off x="7818120" y="2267712"/>
            <a:ext cx="3538728" cy="731520"/>
          </a:xfrm>
          <a:prstGeom prst="rect">
            <a:avLst/>
          </a:prstGeom>
          <a:noFill/>
        </p:spPr>
        <p:txBody>
          <a:bodyPr wrap="square" lIns="0" tIns="0" rIns="0" bIns="0" anchor="t">
            <a:spAutoFit/>
          </a:bodyPr>
          <a:lstStyle/>
          <a:p>
            <a:pPr algn="l">
              <a:lnSpc>
                <a:spcPct val="105000"/>
              </a:lnSpc>
              <a:spcAft>
                <a:spcPts val="0"/>
              </a:spcAft>
            </a:pPr>
            <a:r>
              <a:rPr sz="1300" b="0" i="0">
                <a:solidFill>
                  <a:srgbClr val="14142B"/>
                </a:solidFill>
                <a:latin typeface="Calibri"/>
              </a:rPr>
              <a:t>Choose In-car and click Start talking. The agent joins your LiveKit room and the strip reads “Listening”.</a:t>
            </a:r>
          </a:p>
        </p:txBody>
      </p:sp>
      <p:sp>
        <p:nvSpPr>
          <p:cNvPr id="125" name="Step 2"/>
          <p:cNvSpPr/>
          <p:nvPr/>
        </p:nvSpPr>
        <p:spPr>
          <a:xfrm>
            <a:off x="7269480" y="3072384"/>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2</a:t>
            </a:r>
          </a:p>
        </p:txBody>
      </p:sp>
      <p:sp>
        <p:nvSpPr>
          <p:cNvPr id="126" name="Step 2 text"/>
          <p:cNvSpPr txBox="1"/>
          <p:nvPr/>
        </p:nvSpPr>
        <p:spPr>
          <a:xfrm>
            <a:off x="7818120" y="3054096"/>
            <a:ext cx="3538728" cy="731520"/>
          </a:xfrm>
          <a:prstGeom prst="rect">
            <a:avLst/>
          </a:prstGeom>
          <a:noFill/>
        </p:spPr>
        <p:txBody>
          <a:bodyPr wrap="square" lIns="0" tIns="0" rIns="0" bIns="0" anchor="t">
            <a:spAutoFit/>
          </a:bodyPr>
          <a:lstStyle/>
          <a:p>
            <a:pPr algn="l">
              <a:lnSpc>
                <a:spcPct val="105000"/>
              </a:lnSpc>
              <a:spcAft>
                <a:spcPts val="0"/>
              </a:spcAft>
            </a:pPr>
            <a:r>
              <a:rPr sz="1300" b="0" i="0">
                <a:solidFill>
                  <a:srgbClr val="14142B"/>
                </a:solidFill>
                <a:latin typeface="Calibri"/>
              </a:rPr>
              <a:t>Say “Navigate to the airport.” The strip shows “Hearing you”, then “Working on it”.</a:t>
            </a:r>
          </a:p>
        </p:txBody>
      </p:sp>
      <p:sp>
        <p:nvSpPr>
          <p:cNvPr id="127" name="Step 3"/>
          <p:cNvSpPr/>
          <p:nvPr/>
        </p:nvSpPr>
        <p:spPr>
          <a:xfrm>
            <a:off x="7269480" y="385876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3</a:t>
            </a:r>
          </a:p>
        </p:txBody>
      </p:sp>
      <p:sp>
        <p:nvSpPr>
          <p:cNvPr id="128" name="Step 3 text"/>
          <p:cNvSpPr txBox="1"/>
          <p:nvPr/>
        </p:nvSpPr>
        <p:spPr>
          <a:xfrm>
            <a:off x="7818120" y="3840480"/>
            <a:ext cx="3538728" cy="731520"/>
          </a:xfrm>
          <a:prstGeom prst="rect">
            <a:avLst/>
          </a:prstGeom>
          <a:noFill/>
        </p:spPr>
        <p:txBody>
          <a:bodyPr wrap="square" lIns="0" tIns="0" rIns="0" bIns="0" anchor="t">
            <a:spAutoFit/>
          </a:bodyPr>
          <a:lstStyle/>
          <a:p>
            <a:pPr algn="l">
              <a:lnSpc>
                <a:spcPct val="105000"/>
              </a:lnSpc>
              <a:spcAft>
                <a:spcPts val="0"/>
              </a:spcAft>
            </a:pPr>
            <a:r>
              <a:rPr sz="1300" b="0" i="0">
                <a:solidFill>
                  <a:srgbClr val="14142B"/>
                </a:solidFill>
                <a:latin typeface="Calibri"/>
              </a:rPr>
              <a:t>“One moment.” covers planning, then the reply: route to Kempegowda Airport, 88 minutes.</a:t>
            </a:r>
          </a:p>
        </p:txBody>
      </p:sp>
      <p:sp>
        <p:nvSpPr>
          <p:cNvPr id="129" name="Step 4"/>
          <p:cNvSpPr/>
          <p:nvPr/>
        </p:nvSpPr>
        <p:spPr>
          <a:xfrm>
            <a:off x="7269480" y="464515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4</a:t>
            </a:r>
          </a:p>
        </p:txBody>
      </p:sp>
      <p:sp>
        <p:nvSpPr>
          <p:cNvPr id="130" name="Step 4 text"/>
          <p:cNvSpPr txBox="1"/>
          <p:nvPr/>
        </p:nvSpPr>
        <p:spPr>
          <a:xfrm>
            <a:off x="7818120" y="4626864"/>
            <a:ext cx="3538728" cy="731520"/>
          </a:xfrm>
          <a:prstGeom prst="rect">
            <a:avLst/>
          </a:prstGeom>
          <a:noFill/>
        </p:spPr>
        <p:txBody>
          <a:bodyPr wrap="square" lIns="0" tIns="0" rIns="0" bIns="0" anchor="t">
            <a:spAutoFit/>
          </a:bodyPr>
          <a:lstStyle/>
          <a:p>
            <a:pPr algn="l">
              <a:lnSpc>
                <a:spcPct val="105000"/>
              </a:lnSpc>
              <a:spcAft>
                <a:spcPts val="0"/>
              </a:spcAft>
            </a:pPr>
            <a:r>
              <a:rPr sz="1300" b="0" i="0">
                <a:solidFill>
                  <a:srgbClr val="14142B"/>
                </a:solidFill>
                <a:latin typeface="Calibri"/>
              </a:rPr>
              <a:t>Talk over the reply: “Actually, go to the office instead.” Both voices show on the strip at once.</a:t>
            </a:r>
          </a:p>
        </p:txBody>
      </p:sp>
      <p:sp>
        <p:nvSpPr>
          <p:cNvPr id="131" name="Step 5"/>
          <p:cNvSpPr/>
          <p:nvPr/>
        </p:nvSpPr>
        <p:spPr>
          <a:xfrm>
            <a:off x="7269480" y="543153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5</a:t>
            </a:r>
          </a:p>
        </p:txBody>
      </p:sp>
      <p:sp>
        <p:nvSpPr>
          <p:cNvPr id="132" name="Step 5 text"/>
          <p:cNvSpPr txBox="1"/>
          <p:nvPr/>
        </p:nvSpPr>
        <p:spPr>
          <a:xfrm>
            <a:off x="7818120" y="5413248"/>
            <a:ext cx="3538728" cy="731520"/>
          </a:xfrm>
          <a:prstGeom prst="rect">
            <a:avLst/>
          </a:prstGeom>
          <a:noFill/>
        </p:spPr>
        <p:txBody>
          <a:bodyPr wrap="square" lIns="0" tIns="0" rIns="0" bIns="0" anchor="t">
            <a:spAutoFit/>
          </a:bodyPr>
          <a:lstStyle/>
          <a:p>
            <a:pPr algn="l">
              <a:lnSpc>
                <a:spcPct val="105000"/>
              </a:lnSpc>
              <a:spcAft>
                <a:spcPts val="0"/>
              </a:spcAft>
            </a:pPr>
            <a:r>
              <a:rPr sz="1300" b="0" i="0">
                <a:solidFill>
                  <a:srgbClr val="14142B"/>
                </a:solidFill>
                <a:latin typeface="Calibri"/>
              </a:rPr>
              <a:t>The timeline ribbon shows each hold, cancellation and tool call as it happens.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Tools and tech stack used</a:t>
            </a:r>
            <a:endParaRPr b="1">
              <a:solidFill>
                <a:srgbClr val="704EA6"/>
              </a:solidFill>
            </a:endParaRPr>
          </a:p>
        </p:txBody>
      </p:sp>
      <p:graphicFrame>
        <p:nvGraphicFramePr>
          <p:cNvPr id="126" name="Table 125"/>
          <p:cNvGraphicFramePr>
            <a:graphicFrameLocks noGrp="1"/>
          </p:cNvGraphicFramePr>
          <p:nvPr/>
        </p:nvGraphicFramePr>
        <p:xfrm>
          <a:off x="841248" y="1828800"/>
          <a:ext cx="10515600" cy="3785616"/>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20624">
                <a:tc>
                  <a:txBody>
                    <a:bodyPr/>
                    <a:lstStyle/>
                    <a:p>
                      <a:r>
                        <a:rPr sz="1300" b="1" i="0">
                          <a:solidFill>
                            <a:srgbClr val="FFFFFF"/>
                          </a:solidFill>
                          <a:latin typeface="Calibri"/>
                        </a:rPr>
                        <a:t>Layer</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6D28D9"/>
                    </a:solidFill>
                  </a:tcPr>
                </a:tc>
                <a:tc>
                  <a:txBody>
                    <a:bodyPr/>
                    <a:lstStyle/>
                    <a:p>
                      <a:r>
                        <a:rPr sz="1300" b="1" i="0">
                          <a:solidFill>
                            <a:srgbClr val="FFFFFF"/>
                          </a:solidFill>
                          <a:latin typeface="Calibri"/>
                        </a:rPr>
                        <a:t>What we use</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6D28D9"/>
                    </a:solidFill>
                  </a:tcPr>
                </a:tc>
                <a:tc>
                  <a:txBody>
                    <a:bodyPr/>
                    <a:lstStyle/>
                    <a:p>
                      <a:r>
                        <a:rPr sz="1300" b="1" i="0">
                          <a:solidFill>
                            <a:srgbClr val="FFFFFF"/>
                          </a:solidFill>
                          <a:latin typeface="Calibri"/>
                        </a:rPr>
                        <a:t>Why / how</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6D28D9"/>
                    </a:solidFill>
                  </a:tcPr>
                </a:tc>
                <a:extLst>
                  <a:ext uri="{0D108BD9-81ED-4DB2-BD59-A6C34878D82A}">
                    <a16:rowId xmlns:a16="http://schemas.microsoft.com/office/drawing/2014/main" val="10000"/>
                  </a:ext>
                </a:extLst>
              </a:tr>
              <a:tr h="420624">
                <a:tc>
                  <a:txBody>
                    <a:bodyPr/>
                    <a:lstStyle/>
                    <a:p>
                      <a:r>
                        <a:rPr sz="1300" b="1" i="0">
                          <a:solidFill>
                            <a:srgbClr val="14142B"/>
                          </a:solidFill>
                          <a:latin typeface="Calibri"/>
                        </a:rPr>
                        <a:t>Language model</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Qwen3-8B 4-bit on MLX (Mac); Qwen3-14B-AWQ on vLLM (CUDA)</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Planner and responder; pinned revisions, seed 7</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extLst>
                  <a:ext uri="{0D108BD9-81ED-4DB2-BD59-A6C34878D82A}">
                    <a16:rowId xmlns:a16="http://schemas.microsoft.com/office/drawing/2014/main" val="10001"/>
                  </a:ext>
                </a:extLst>
              </a:tr>
              <a:tr h="420624">
                <a:tc>
                  <a:txBody>
                    <a:bodyPr/>
                    <a:lstStyle/>
                    <a:p>
                      <a:r>
                        <a:rPr sz="1300" b="1" i="0">
                          <a:solidFill>
                            <a:srgbClr val="14142B"/>
                          </a:solidFill>
                          <a:latin typeface="Calibri"/>
                        </a:rPr>
                        <a:t>Speech to text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NVIDIA Parakeet-TDT 0.6B v2</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parakeet-mlx on Mac, NeMo on CUDA</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extLst>
                  <a:ext uri="{0D108BD9-81ED-4DB2-BD59-A6C34878D82A}">
                    <a16:rowId xmlns:a16="http://schemas.microsoft.com/office/drawing/2014/main" val="10002"/>
                  </a:ext>
                </a:extLst>
              </a:tr>
              <a:tr h="420624">
                <a:tc>
                  <a:txBody>
                    <a:bodyPr/>
                    <a:lstStyle/>
                    <a:p>
                      <a:r>
                        <a:rPr sz="1300" b="1" i="0">
                          <a:solidFill>
                            <a:srgbClr val="14142B"/>
                          </a:solidFill>
                          <a:latin typeface="Calibri"/>
                        </a:rPr>
                        <a:t>Text to speech</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Kokoro-82M v1.0</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kokoro-onnx, hash-checked model files</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extLst>
                  <a:ext uri="{0D108BD9-81ED-4DB2-BD59-A6C34878D82A}">
                    <a16:rowId xmlns:a16="http://schemas.microsoft.com/office/drawing/2014/main" val="10003"/>
                  </a:ext>
                </a:extLst>
              </a:tr>
              <a:tr h="420624">
                <a:tc>
                  <a:txBody>
                    <a:bodyPr/>
                    <a:lstStyle/>
                    <a:p>
                      <a:r>
                        <a:rPr sz="1300" b="1" i="0">
                          <a:solidFill>
                            <a:srgbClr val="14142B"/>
                          </a:solidFill>
                          <a:latin typeface="Calibri"/>
                        </a:rPr>
                        <a:t>Voice activity</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Silero VAD</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livekit-plugins-silero, local</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extLst>
                  <a:ext uri="{0D108BD9-81ED-4DB2-BD59-A6C34878D82A}">
                    <a16:rowId xmlns:a16="http://schemas.microsoft.com/office/drawing/2014/main" val="10004"/>
                  </a:ext>
                </a:extLst>
              </a:tr>
              <a:tr h="420624">
                <a:tc>
                  <a:txBody>
                    <a:bodyPr/>
                    <a:lstStyle/>
                    <a:p>
                      <a:r>
                        <a:rPr sz="1300" b="1" i="0">
                          <a:solidFill>
                            <a:srgbClr val="14142B"/>
                          </a:solidFill>
                          <a:latin typeface="Calibri"/>
                        </a:rPr>
                        <a:t>Real-time audio</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LiveKit Agents 1.8.3 with LiveKit Cloud</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One room and one coordinator per conversation</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extLst>
                  <a:ext uri="{0D108BD9-81ED-4DB2-BD59-A6C34878D82A}">
                    <a16:rowId xmlns:a16="http://schemas.microsoft.com/office/drawing/2014/main" val="10005"/>
                  </a:ext>
                </a:extLst>
              </a:tr>
              <a:tr h="420624">
                <a:tc>
                  <a:txBody>
                    <a:bodyPr/>
                    <a:lstStyle/>
                    <a:p>
                      <a:r>
                        <a:rPr sz="1300" b="1" i="0">
                          <a:solidFill>
                            <a:srgbClr val="14142B"/>
                          </a:solidFill>
                          <a:latin typeface="Calibri"/>
                        </a:rPr>
                        <a:t>Benchmark</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Full-Duplex-Bench v3</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Pinned submodule; the benchmark’s own scorers</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extLst>
                  <a:ext uri="{0D108BD9-81ED-4DB2-BD59-A6C34878D82A}">
                    <a16:rowId xmlns:a16="http://schemas.microsoft.com/office/drawing/2014/main" val="10006"/>
                  </a:ext>
                </a:extLst>
              </a:tr>
              <a:tr h="420624">
                <a:tc>
                  <a:txBody>
                    <a:bodyPr/>
                    <a:lstStyle/>
                    <a:p>
                      <a:r>
                        <a:rPr sz="1300" b="1" i="0">
                          <a:solidFill>
                            <a:srgbClr val="14142B"/>
                          </a:solidFill>
                          <a:latin typeface="Calibri"/>
                        </a:rPr>
                        <a:t>Web demo</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Next.js 15, React 19, MapLibre GL, livekit-client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Transcript, map, timeline, listening strip</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extLst>
                  <a:ext uri="{0D108BD9-81ED-4DB2-BD59-A6C34878D82A}">
                    <a16:rowId xmlns:a16="http://schemas.microsoft.com/office/drawing/2014/main" val="10007"/>
                  </a:ext>
                </a:extLst>
              </a:tr>
              <a:tr h="420624">
                <a:tc>
                  <a:txBody>
                    <a:bodyPr/>
                    <a:lstStyle/>
                    <a:p>
                      <a:r>
                        <a:rPr sz="1300" b="1" i="0">
                          <a:solidFill>
                            <a:srgbClr val="14142B"/>
                          </a:solidFill>
                          <a:latin typeface="Calibri"/>
                        </a:rPr>
                        <a:t>Engineering</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Python 3.11 asyncio, uv, pytest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797 unit tests; one-command benchmark script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32" name="Use case"/>
          <p:cNvSpPr txBox="1"/>
          <p:nvPr/>
        </p:nvSpPr>
        <p:spPr>
          <a:xfrm>
            <a:off x="841248" y="1828800"/>
            <a:ext cx="5486400" cy="960120"/>
          </a:xfrm>
          <a:prstGeom prst="rect">
            <a:avLst/>
          </a:prstGeom>
          <a:noFill/>
        </p:spPr>
        <p:txBody>
          <a:bodyPr wrap="square" lIns="0" tIns="0" rIns="0" bIns="0" anchor="t">
            <a:spAutoFit/>
          </a:bodyPr>
          <a:lstStyle/>
          <a:p>
            <a:pPr algn="l">
              <a:spcAft>
                <a:spcPts val="600"/>
              </a:spcAft>
            </a:pPr>
            <a:r>
              <a:rPr sz="1800" b="1" i="0">
                <a:solidFill>
                  <a:srgbClr val="14142B"/>
                </a:solidFill>
                <a:latin typeface="Calibri"/>
              </a:rPr>
              <a:t>Use case: hands-free in-car navigation</a:t>
            </a:r>
          </a:p>
          <a:p>
            <a:pPr algn="l">
              <a:lnSpc>
                <a:spcPct val="105000"/>
              </a:lnSpc>
              <a:spcAft>
                <a:spcPts val="0"/>
              </a:spcAft>
            </a:pPr>
            <a:r>
              <a:rPr sz="1400" b="0" i="0">
                <a:solidFill>
                  <a:srgbClr val="63637E"/>
                </a:solidFill>
                <a:latin typeface="Calibri"/>
              </a:rPr>
              <a:t>A driver can’t look at a screen and changes plans mid-sentence. The same coordinator drives six navigation tools on a deterministic Bengaluru map; only the tool manifest changes.</a:t>
            </a:r>
          </a:p>
        </p:txBody>
      </p:sp>
      <p:sp>
        <p:nvSpPr>
          <p:cNvPr id="133" name="Mind changed mid-sentence"/>
          <p:cNvSpPr/>
          <p:nvPr/>
        </p:nvSpPr>
        <p:spPr>
          <a:xfrm>
            <a:off x="841248" y="29718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l">
              <a:spcAft>
                <a:spcPts val="400"/>
              </a:spcAft>
            </a:pPr>
            <a:r>
              <a:rPr sz="1400" b="1" i="0">
                <a:solidFill>
                  <a:srgbClr val="6D28D9"/>
                </a:solidFill>
                <a:latin typeface="Calibri"/>
              </a:rPr>
              <a:t>Mind changed mid-sentence</a:t>
            </a:r>
          </a:p>
          <a:p>
            <a:pPr algn="l">
              <a:lnSpc>
                <a:spcPct val="105000"/>
              </a:lnSpc>
              <a:spcAft>
                <a:spcPts val="0"/>
              </a:spcAft>
            </a:pPr>
            <a:r>
              <a:rPr sz="1300" b="0" i="0">
                <a:solidFill>
                  <a:srgbClr val="14142B"/>
                </a:solidFill>
                <a:latin typeface="Calibri"/>
              </a:rPr>
              <a:t>“Airport… actually, the office first” computes only the office route.</a:t>
            </a:r>
          </a:p>
        </p:txBody>
      </p:sp>
      <p:sp>
        <p:nvSpPr>
          <p:cNvPr id="134" name="Mind changed after commit"/>
          <p:cNvSpPr/>
          <p:nvPr/>
        </p:nvSpPr>
        <p:spPr>
          <a:xfrm>
            <a:off x="3630168" y="29718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l">
              <a:spcAft>
                <a:spcPts val="400"/>
              </a:spcAft>
            </a:pPr>
            <a:r>
              <a:rPr sz="1400" b="1" i="0">
                <a:solidFill>
                  <a:srgbClr val="6D28D9"/>
                </a:solidFill>
                <a:latin typeface="Calibri"/>
              </a:rPr>
              <a:t>Mind changed after commit</a:t>
            </a:r>
          </a:p>
          <a:p>
            <a:pPr algn="l">
              <a:lnSpc>
                <a:spcPct val="105000"/>
              </a:lnSpc>
              <a:spcAft>
                <a:spcPts val="0"/>
              </a:spcAft>
            </a:pPr>
            <a:r>
              <a:rPr sz="1300" b="0" i="0">
                <a:solidFill>
                  <a:srgbClr val="14142B"/>
                </a:solidFill>
                <a:latin typeface="Calibri"/>
              </a:rPr>
              <a:t>The in-flight airport route is cancelled; navigation starts once.</a:t>
            </a:r>
          </a:p>
        </p:txBody>
      </p:sp>
      <p:sp>
        <p:nvSpPr>
          <p:cNvPr id="135" name="Talking over the agent"/>
          <p:cNvSpPr/>
          <p:nvPr/>
        </p:nvSpPr>
        <p:spPr>
          <a:xfrm>
            <a:off x="841248" y="43434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l">
              <a:spcAft>
                <a:spcPts val="400"/>
              </a:spcAft>
            </a:pPr>
            <a:r>
              <a:rPr sz="1400" b="1" i="0">
                <a:solidFill>
                  <a:srgbClr val="6D28D9"/>
                </a:solidFill>
                <a:latin typeface="Calibri"/>
              </a:rPr>
              <a:t>Talking over the agent</a:t>
            </a:r>
          </a:p>
          <a:p>
            <a:pPr algn="l">
              <a:lnSpc>
                <a:spcPct val="105000"/>
              </a:lnSpc>
              <a:spcAft>
                <a:spcPts val="0"/>
              </a:spcAft>
            </a:pPr>
            <a:r>
              <a:rPr sz="1300" b="0" i="0">
                <a:solidFill>
                  <a:srgbClr val="14142B"/>
                </a:solidFill>
                <a:latin typeface="Calibri"/>
              </a:rPr>
              <a:t>“Add a coffee stop” during the arrival estimate adds one waypoint.</a:t>
            </a:r>
          </a:p>
        </p:txBody>
      </p:sp>
      <p:sp>
        <p:nvSpPr>
          <p:cNvPr id="136" name="Repeated request"/>
          <p:cNvSpPr/>
          <p:nvPr/>
        </p:nvSpPr>
        <p:spPr>
          <a:xfrm>
            <a:off x="3630168" y="43434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t"/>
          <a:lstStyle/>
          <a:p>
            <a:pPr algn="l">
              <a:spcAft>
                <a:spcPts val="400"/>
              </a:spcAft>
            </a:pPr>
            <a:r>
              <a:rPr sz="1400" b="1" i="0">
                <a:solidFill>
                  <a:srgbClr val="6D28D9"/>
                </a:solidFill>
                <a:latin typeface="Calibri"/>
              </a:rPr>
              <a:t>Repeated request</a:t>
            </a:r>
          </a:p>
          <a:p>
            <a:pPr algn="l">
              <a:lnSpc>
                <a:spcPct val="105000"/>
              </a:lnSpc>
              <a:spcAft>
                <a:spcPts val="0"/>
              </a:spcAft>
            </a:pPr>
            <a:r>
              <a:rPr sz="1300" b="0" i="0">
                <a:solidFill>
                  <a:srgbClr val="14142B"/>
                </a:solidFill>
                <a:latin typeface="Calibri"/>
              </a:rPr>
              <a:t>A stop already on the route is not added again.</a:t>
            </a:r>
          </a:p>
        </p:txBody>
      </p:sp>
      <p:sp>
        <p:nvSpPr>
          <p:cNvPr id="137" name="TextBox 136"/>
          <p:cNvSpPr txBox="1"/>
          <p:nvPr/>
        </p:nvSpPr>
        <p:spPr>
          <a:xfrm>
            <a:off x="841248" y="5760720"/>
            <a:ext cx="5486400" cy="320040"/>
          </a:xfrm>
          <a:prstGeom prst="rect">
            <a:avLst/>
          </a:prstGeom>
          <a:noFill/>
        </p:spPr>
        <p:txBody>
          <a:bodyPr wrap="square" lIns="0" tIns="0" rIns="0" bIns="0" anchor="t">
            <a:spAutoFit/>
          </a:bodyPr>
          <a:lstStyle/>
          <a:p>
            <a:pPr algn="l">
              <a:spcAft>
                <a:spcPts val="0"/>
              </a:spcAft>
            </a:pPr>
            <a:r>
              <a:rPr sz="1200" b="0" i="1">
                <a:solidFill>
                  <a:srgbClr val="63637E"/>
                </a:solidFill>
                <a:latin typeface="Calibri"/>
              </a:rPr>
              <a:t>Simulated routes and arrival times: no GPS, traffic or vehicle control.</a:t>
            </a:r>
          </a:p>
        </p:txBody>
      </p:sp>
      <p:sp>
        <p:nvSpPr>
          <p:cNvPr id="138" name="TextBox 137"/>
          <p:cNvSpPr txBox="1"/>
          <p:nvPr/>
        </p:nvSpPr>
        <p:spPr>
          <a:xfrm>
            <a:off x="6720840" y="1828800"/>
            <a:ext cx="4636008" cy="320040"/>
          </a:xfrm>
          <a:prstGeom prst="rect">
            <a:avLst/>
          </a:prstGeom>
          <a:noFill/>
        </p:spPr>
        <p:txBody>
          <a:bodyPr wrap="square" lIns="0" tIns="0" rIns="0" bIns="0" anchor="t">
            <a:spAutoFit/>
          </a:bodyPr>
          <a:lstStyle/>
          <a:p>
            <a:pPr algn="l">
              <a:spcAft>
                <a:spcPts val="0"/>
              </a:spcAft>
            </a:pPr>
            <a:r>
              <a:rPr sz="1800" b="1" i="0">
                <a:solidFill>
                  <a:srgbClr val="14142B"/>
                </a:solidFill>
                <a:latin typeface="Calibri"/>
              </a:rPr>
              <a:t>Where else it matters</a:t>
            </a:r>
          </a:p>
        </p:txBody>
      </p:sp>
      <p:sp>
        <p:nvSpPr>
          <p:cNvPr id="139" name="Customer support"/>
          <p:cNvSpPr/>
          <p:nvPr/>
        </p:nvSpPr>
        <p:spPr>
          <a:xfrm>
            <a:off x="6720840" y="2286000"/>
            <a:ext cx="4636008" cy="868680"/>
          </a:xfrm>
          <a:prstGeom prst="roundRect">
            <a:avLst>
              <a:gd name="adj" fmla="val 8421"/>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l">
              <a:spcAft>
                <a:spcPts val="200"/>
              </a:spcAft>
            </a:pPr>
            <a:r>
              <a:rPr sz="1400" b="1" i="0">
                <a:solidFill>
                  <a:srgbClr val="14142B"/>
                </a:solidFill>
                <a:latin typeface="Calibri"/>
              </a:rPr>
              <a:t>Customer support</a:t>
            </a:r>
          </a:p>
          <a:p>
            <a:pPr algn="l">
              <a:lnSpc>
                <a:spcPct val="105000"/>
              </a:lnSpc>
              <a:spcAft>
                <a:spcPts val="0"/>
              </a:spcAft>
            </a:pPr>
            <a:r>
              <a:rPr sz="1300" b="0" i="0">
                <a:solidFill>
                  <a:srgbClr val="63637E"/>
                </a:solidFill>
                <a:latin typeface="Calibri"/>
              </a:rPr>
              <a:t>Change a booking mid-request without booking twice.</a:t>
            </a:r>
          </a:p>
        </p:txBody>
      </p:sp>
      <p:sp>
        <p:nvSpPr>
          <p:cNvPr id="140" name="Accessibility"/>
          <p:cNvSpPr/>
          <p:nvPr/>
        </p:nvSpPr>
        <p:spPr>
          <a:xfrm>
            <a:off x="6720840" y="3273552"/>
            <a:ext cx="4636008" cy="868680"/>
          </a:xfrm>
          <a:prstGeom prst="roundRect">
            <a:avLst>
              <a:gd name="adj" fmla="val 8421"/>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l">
              <a:spcAft>
                <a:spcPts val="200"/>
              </a:spcAft>
            </a:pPr>
            <a:r>
              <a:rPr sz="1400" b="1" i="0">
                <a:solidFill>
                  <a:srgbClr val="14142B"/>
                </a:solidFill>
                <a:latin typeface="Calibri"/>
              </a:rPr>
              <a:t>Accessibility</a:t>
            </a:r>
          </a:p>
          <a:p>
            <a:pPr algn="l">
              <a:lnSpc>
                <a:spcPct val="105000"/>
              </a:lnSpc>
              <a:spcAft>
                <a:spcPts val="0"/>
              </a:spcAft>
            </a:pPr>
            <a:r>
              <a:rPr sz="1300" b="0" i="0">
                <a:solidFill>
                  <a:srgbClr val="63637E"/>
                </a:solidFill>
                <a:latin typeface="Calibri"/>
              </a:rPr>
              <a:t>People who hesitate or correct themselves are understood, not rushed.</a:t>
            </a:r>
          </a:p>
        </p:txBody>
      </p:sp>
      <p:sp>
        <p:nvSpPr>
          <p:cNvPr id="141" name="Benchmark domains"/>
          <p:cNvSpPr/>
          <p:nvPr/>
        </p:nvSpPr>
        <p:spPr>
          <a:xfrm>
            <a:off x="6720840" y="4261104"/>
            <a:ext cx="4636008" cy="868680"/>
          </a:xfrm>
          <a:prstGeom prst="roundRect">
            <a:avLst>
              <a:gd name="adj" fmla="val 8421"/>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146304" tIns="109728" rIns="146304" bIns="109728" rtlCol="0" anchor="ctr"/>
          <a:lstStyle/>
          <a:p>
            <a:pPr algn="l">
              <a:spcAft>
                <a:spcPts val="200"/>
              </a:spcAft>
            </a:pPr>
            <a:r>
              <a:rPr sz="1400" b="1" i="0">
                <a:solidFill>
                  <a:srgbClr val="14142B"/>
                </a:solidFill>
                <a:latin typeface="Calibri"/>
              </a:rPr>
              <a:t>Benchmark domains</a:t>
            </a:r>
          </a:p>
          <a:p>
            <a:pPr algn="l">
              <a:lnSpc>
                <a:spcPct val="105000"/>
              </a:lnSpc>
              <a:spcAft>
                <a:spcPts val="0"/>
              </a:spcAft>
            </a:pPr>
            <a:r>
              <a:rPr sz="1300" b="0" i="0">
                <a:solidFill>
                  <a:srgbClr val="63637E"/>
                </a:solidFill>
                <a:latin typeface="Calibri"/>
              </a:rPr>
              <a:t>Travel, finance, housing and shopping tools from FDB-v3 run on the same coordinator.</a:t>
            </a:r>
          </a:p>
        </p:txBody>
      </p:sp>
      <p:sp>
        <p:nvSpPr>
          <p:cNvPr id="142" name="Impact"/>
          <p:cNvSpPr/>
          <p:nvPr/>
        </p:nvSpPr>
        <p:spPr>
          <a:xfrm>
            <a:off x="6720840" y="5349240"/>
            <a:ext cx="4636008" cy="822960"/>
          </a:xfrm>
          <a:prstGeom prst="roundRect">
            <a:avLst>
              <a:gd name="adj" fmla="val 8888"/>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23444" rIns="164592" bIns="123444" rtlCol="0" anchor="ctr"/>
          <a:lstStyle/>
          <a:p>
            <a:pPr algn="l">
              <a:lnSpc>
                <a:spcPct val="105000"/>
              </a:lnSpc>
              <a:spcAft>
                <a:spcPts val="0"/>
              </a:spcAft>
            </a:pPr>
            <a:r>
              <a:rPr sz="1300" b="1" i="0">
                <a:solidFill>
                  <a:srgbClr val="FFFFFF"/>
                </a:solidFill>
                <a:latin typeface="Calibri"/>
              </a:rPr>
              <a:t>Impact: fewer wrong actions, no repeated bookings or charges, and a conversation that keeps moving while the work happens.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138" name="TextBox 137"/>
          <p:cNvSpPr txBox="1"/>
          <p:nvPr/>
        </p:nvSpPr>
        <p:spPr>
          <a:xfrm>
            <a:off x="841248" y="1828800"/>
            <a:ext cx="3291840" cy="320040"/>
          </a:xfrm>
          <a:prstGeom prst="rect">
            <a:avLst/>
          </a:prstGeom>
          <a:noFill/>
        </p:spPr>
        <p:txBody>
          <a:bodyPr wrap="square" lIns="0" tIns="0" rIns="0" bIns="0" anchor="t">
            <a:spAutoFit/>
          </a:bodyPr>
          <a:lstStyle/>
          <a:p>
            <a:pPr algn="l">
              <a:spcAft>
                <a:spcPts val="0"/>
              </a:spcAft>
            </a:pPr>
            <a:r>
              <a:rPr sz="1700" b="1" i="0">
                <a:solidFill>
                  <a:srgbClr val="14142B"/>
                </a:solidFill>
                <a:latin typeface="Calibri"/>
              </a:rPr>
              <a:t>Innovation highlights</a:t>
            </a:r>
          </a:p>
        </p:txBody>
      </p:sp>
      <p:sp>
        <p:nvSpPr>
          <p:cNvPr id="139" name="Innovation"/>
          <p:cNvSpPr txBox="1"/>
          <p:nvPr/>
        </p:nvSpPr>
        <p:spPr>
          <a:xfrm>
            <a:off x="841248" y="2286000"/>
            <a:ext cx="3291840" cy="3931920"/>
          </a:xfrm>
          <a:prstGeom prst="rect">
            <a:avLst/>
          </a:prstGeom>
          <a:noFill/>
        </p:spPr>
        <p:txBody>
          <a:bodyPr wrap="square" lIns="0" tIns="0" rIns="0" bIns="0" anchor="t">
            <a:spAutoFit/>
          </a:bodyPr>
          <a:lstStyle/>
          <a:p>
            <a:pPr marL="201168" indent="-201168" algn="l">
              <a:lnSpc>
                <a:spcPct val="105000"/>
              </a:lnSpc>
              <a:spcAft>
                <a:spcPts val="900"/>
              </a:spcAft>
              <a:buClr>
                <a:srgbClr val="6D28D9"/>
              </a:buClr>
              <a:buSzPct val="100000"/>
              <a:buFont typeface="Arial"/>
              <a:buChar char="•"/>
            </a:pPr>
            <a:r>
              <a:rPr sz="1300" b="0" i="0">
                <a:solidFill>
                  <a:srgbClr val="14142B"/>
                </a:solidFill>
                <a:latin typeface="Calibri"/>
              </a:rPr>
              <a:t>Commit gate: a plan waits 350 ms for reads or 700 ms for writes in case you keep talking.</a:t>
            </a:r>
          </a:p>
          <a:p>
            <a:pPr marL="201168" indent="-201168" algn="l">
              <a:lnSpc>
                <a:spcPct val="105000"/>
              </a:lnSpc>
              <a:spcAft>
                <a:spcPts val="900"/>
              </a:spcAft>
              <a:buClr>
                <a:srgbClr val="6D28D9"/>
              </a:buClr>
              <a:buSzPct val="100000"/>
              <a:buFont typeface="Arial"/>
              <a:buChar char="•"/>
            </a:pPr>
            <a:r>
              <a:rPr sz="1300" b="0" i="0">
                <a:solidFill>
                  <a:srgbClr val="14142B"/>
                </a:solidFill>
                <a:latin typeface="Calibri"/>
              </a:rPr>
              <a:t>Intent versions: new words drop the held plan and cancel stale reads in flight.</a:t>
            </a:r>
          </a:p>
          <a:p>
            <a:pPr marL="201168" indent="-201168" algn="l">
              <a:lnSpc>
                <a:spcPct val="105000"/>
              </a:lnSpc>
              <a:spcAft>
                <a:spcPts val="900"/>
              </a:spcAft>
              <a:buClr>
                <a:srgbClr val="6D28D9"/>
              </a:buClr>
              <a:buSzPct val="100000"/>
              <a:buFont typeface="Arial"/>
              <a:buChar char="•"/>
            </a:pPr>
            <a:r>
              <a:rPr sz="1300" b="0" i="0">
                <a:solidFill>
                  <a:srgbClr val="14142B"/>
                </a:solidFill>
                <a:latin typeface="Calibri"/>
              </a:rPr>
              <a:t>Action ledger: a state-changing call identical to one already made is blocked, not rerun.</a:t>
            </a:r>
          </a:p>
          <a:p>
            <a:pPr marL="201168" indent="-201168" algn="l">
              <a:lnSpc>
                <a:spcPct val="105000"/>
              </a:lnSpc>
              <a:spcAft>
                <a:spcPts val="900"/>
              </a:spcAft>
              <a:buClr>
                <a:srgbClr val="6D28D9"/>
              </a:buClr>
              <a:buSzPct val="100000"/>
              <a:buFont typeface="Arial"/>
              <a:buChar char="•"/>
            </a:pPr>
            <a:r>
              <a:rPr sz="1300" b="0" i="0">
                <a:solidFill>
                  <a:srgbClr val="14142B"/>
                </a:solidFill>
                <a:latin typeface="Calibri"/>
              </a:rPr>
              <a:t>Plans are checked before anything runs: unknown tools, missing arguments and broken references are rejected.</a:t>
            </a:r>
          </a:p>
        </p:txBody>
      </p:sp>
      <p:sp>
        <p:nvSpPr>
          <p:cNvPr id="140" name="Results"/>
          <p:cNvSpPr/>
          <p:nvPr/>
        </p:nvSpPr>
        <p:spPr>
          <a:xfrm>
            <a:off x="4407408" y="1828800"/>
            <a:ext cx="3520440" cy="3840480"/>
          </a:xfrm>
          <a:prstGeom prst="roundRect">
            <a:avLst>
              <a:gd name="adj" fmla="val 2077"/>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t"/>
          <a:lstStyle/>
          <a:p>
            <a:pPr algn="l">
              <a:spcAft>
                <a:spcPts val="400"/>
              </a:spcAft>
            </a:pPr>
            <a:r>
              <a:rPr sz="1700" b="1" i="0">
                <a:solidFill>
                  <a:srgbClr val="14142B"/>
                </a:solidFill>
                <a:latin typeface="Calibri"/>
              </a:rPr>
              <a:t>Results on FDB-v3</a:t>
            </a:r>
          </a:p>
          <a:p>
            <a:pPr algn="l">
              <a:lnSpc>
                <a:spcPct val="95000"/>
              </a:lnSpc>
              <a:spcAft>
                <a:spcPts val="0"/>
              </a:spcAft>
            </a:pPr>
            <a:r>
              <a:rPr sz="4800" b="1" i="0">
                <a:solidFill>
                  <a:srgbClr val="6D28D9"/>
                </a:solidFill>
                <a:latin typeface="Calibri"/>
              </a:rPr>
              <a:t>58/100</a:t>
            </a:r>
          </a:p>
          <a:p>
            <a:pPr algn="l">
              <a:spcAft>
                <a:spcPts val="1000"/>
              </a:spcAft>
            </a:pPr>
            <a:r>
              <a:rPr sz="1200" b="0" i="0">
                <a:solidFill>
                  <a:srgbClr val="63637E"/>
                </a:solidFill>
                <a:latin typeface="Calibri"/>
              </a:rPr>
              <a:t>strict pass rate, all 100 scenarios</a:t>
            </a:r>
          </a:p>
          <a:p>
            <a:pPr algn="l">
              <a:spcAft>
                <a:spcPts val="0"/>
              </a:spcAft>
            </a:pPr>
            <a:r>
              <a:rPr sz="2000" b="1" i="0">
                <a:solidFill>
                  <a:srgbClr val="14142B"/>
                </a:solidFill>
                <a:latin typeface="Calibri"/>
              </a:rPr>
              <a:t>82.3%</a:t>
            </a:r>
            <a:r>
              <a:rPr sz="1200" b="0" i="0">
                <a:solidFill>
                  <a:srgbClr val="63637E"/>
                </a:solidFill>
                <a:latin typeface="Calibri"/>
              </a:rPr>
              <a:t>  right tools chosen*</a:t>
            </a:r>
          </a:p>
          <a:p>
            <a:pPr algn="l">
              <a:spcAft>
                <a:spcPts val="0"/>
              </a:spcAft>
            </a:pPr>
            <a:r>
              <a:rPr sz="2000" b="1" i="0">
                <a:solidFill>
                  <a:srgbClr val="14142B"/>
                </a:solidFill>
                <a:latin typeface="Calibri"/>
              </a:rPr>
              <a:t>69.9%</a:t>
            </a:r>
            <a:r>
              <a:rPr sz="1200" b="0" i="0">
                <a:solidFill>
                  <a:srgbClr val="63637E"/>
                </a:solidFill>
                <a:latin typeface="Calibri"/>
              </a:rPr>
              <a:t>  right arguments*</a:t>
            </a:r>
          </a:p>
          <a:p>
            <a:pPr algn="l">
              <a:spcAft>
                <a:spcPts val="0"/>
              </a:spcAft>
            </a:pPr>
            <a:r>
              <a:rPr sz="2000" b="1" i="0">
                <a:solidFill>
                  <a:srgbClr val="14142B"/>
                </a:solidFill>
                <a:latin typeface="Calibri"/>
              </a:rPr>
              <a:t>87/100</a:t>
            </a:r>
            <a:r>
              <a:rPr sz="1200" b="0" i="0">
                <a:solidFill>
                  <a:srgbClr val="63637E"/>
                </a:solidFill>
                <a:latin typeface="Calibri"/>
              </a:rPr>
              <a:t>  turns taken</a:t>
            </a:r>
          </a:p>
          <a:p>
            <a:pPr algn="l">
              <a:spcAft>
                <a:spcPts val="1000"/>
              </a:spcAft>
            </a:pPr>
            <a:r>
              <a:rPr sz="2000" b="1" i="0">
                <a:solidFill>
                  <a:srgbClr val="14142B"/>
                </a:solidFill>
                <a:latin typeface="Calibri"/>
              </a:rPr>
              <a:t>4.94 s</a:t>
            </a:r>
            <a:r>
              <a:rPr sz="1200" b="0" i="0">
                <a:solidFill>
                  <a:srgbClr val="63637E"/>
                </a:solidFill>
                <a:latin typeface="Calibri"/>
              </a:rPr>
              <a:t>  mean response time</a:t>
            </a:r>
          </a:p>
          <a:p>
            <a:pPr algn="l">
              <a:lnSpc>
                <a:spcPct val="105000"/>
              </a:lnSpc>
              <a:spcAft>
                <a:spcPts val="600"/>
              </a:spcAft>
            </a:pPr>
            <a:r>
              <a:rPr sz="1200" b="1" i="0">
                <a:solidFill>
                  <a:srgbClr val="14142B"/>
                </a:solidFill>
                <a:latin typeface="Calibri"/>
              </a:rPr>
              <a:t>Only 1 of 42 failures was an extra call; 23 made no call at all.</a:t>
            </a:r>
          </a:p>
          <a:p>
            <a:pPr algn="l">
              <a:lnSpc>
                <a:spcPct val="100000"/>
              </a:lnSpc>
              <a:spcAft>
                <a:spcPts val="0"/>
              </a:spcAft>
            </a:pPr>
            <a:r>
              <a:rPr sz="1000" b="0" i="0">
                <a:solidFill>
                  <a:srgbClr val="63637E"/>
                </a:solidFill>
                <a:latin typeface="Calibri"/>
              </a:rPr>
              <a:t>*in answered scenarios. Our own run, 25 Sep 2026: Apple Silicon, exact-match scoring, MLX speech recognition in place of NeMo; not yet re-run on the current code.</a:t>
            </a:r>
          </a:p>
        </p:txBody>
      </p:sp>
      <p:sp>
        <p:nvSpPr>
          <p:cNvPr id="141" name="TextBox 140"/>
          <p:cNvSpPr txBox="1"/>
          <p:nvPr/>
        </p:nvSpPr>
        <p:spPr>
          <a:xfrm>
            <a:off x="8202168" y="1828800"/>
            <a:ext cx="3154680" cy="320040"/>
          </a:xfrm>
          <a:prstGeom prst="rect">
            <a:avLst/>
          </a:prstGeom>
          <a:noFill/>
        </p:spPr>
        <p:txBody>
          <a:bodyPr wrap="square" lIns="0" tIns="0" rIns="0" bIns="0" anchor="t">
            <a:spAutoFit/>
          </a:bodyPr>
          <a:lstStyle/>
          <a:p>
            <a:pPr algn="l">
              <a:spcAft>
                <a:spcPts val="0"/>
              </a:spcAft>
            </a:pPr>
            <a:r>
              <a:rPr sz="1700" b="1" i="0">
                <a:solidFill>
                  <a:srgbClr val="14142B"/>
                </a:solidFill>
                <a:latin typeface="Calibri"/>
              </a:rPr>
              <a:t>Limitations</a:t>
            </a:r>
          </a:p>
        </p:txBody>
      </p:sp>
      <p:sp>
        <p:nvSpPr>
          <p:cNvPr id="142" name="Limitations"/>
          <p:cNvSpPr txBox="1"/>
          <p:nvPr/>
        </p:nvSpPr>
        <p:spPr>
          <a:xfrm>
            <a:off x="8202168" y="2286000"/>
            <a:ext cx="3154680" cy="3931920"/>
          </a:xfrm>
          <a:prstGeom prst="rect">
            <a:avLst/>
          </a:prstGeom>
          <a:noFill/>
        </p:spPr>
        <p:txBody>
          <a:bodyPr wrap="square" lIns="0" tIns="0" rIns="0" bIns="0" anchor="t">
            <a:spAutoFit/>
          </a:bodyPr>
          <a:lstStyle/>
          <a:p>
            <a:pPr marL="201168" indent="-201168" algn="l">
              <a:lnSpc>
                <a:spcPct val="105000"/>
              </a:lnSpc>
              <a:spcAft>
                <a:spcPts val="900"/>
              </a:spcAft>
              <a:buClr>
                <a:srgbClr val="C2415B"/>
              </a:buClr>
              <a:buSzPct val="100000"/>
              <a:buFont typeface="Arial"/>
              <a:buChar char="•"/>
            </a:pPr>
            <a:r>
              <a:rPr sz="1300" b="0" i="0">
                <a:solidFill>
                  <a:srgbClr val="14142B"/>
                </a:solidFill>
                <a:latin typeface="Calibri"/>
              </a:rPr>
              <a:t>Exact-match scoring, not the official LLM judge; only the organizers’ re-run counts.</a:t>
            </a:r>
          </a:p>
          <a:p>
            <a:pPr marL="201168" indent="-201168" algn="l">
              <a:lnSpc>
                <a:spcPct val="105000"/>
              </a:lnSpc>
              <a:spcAft>
                <a:spcPts val="900"/>
              </a:spcAft>
              <a:buClr>
                <a:srgbClr val="C2415B"/>
              </a:buClr>
              <a:buSzPct val="100000"/>
              <a:buFont typeface="Arial"/>
              <a:buChar char="•"/>
            </a:pPr>
            <a:r>
              <a:rPr sz="1300" b="0" i="0">
                <a:solidFill>
                  <a:srgbClr val="14142B"/>
                </a:solidFill>
                <a:latin typeface="Calibri"/>
              </a:rPr>
              <a:t>Slow on a laptop: 4.94 s mean benchmark response; cold live replies took about 18 s.</a:t>
            </a:r>
          </a:p>
          <a:p>
            <a:pPr marL="201168" indent="-201168" algn="l">
              <a:lnSpc>
                <a:spcPct val="105000"/>
              </a:lnSpc>
              <a:spcAft>
                <a:spcPts val="900"/>
              </a:spcAft>
              <a:buClr>
                <a:srgbClr val="C2415B"/>
              </a:buClr>
              <a:buSzPct val="100000"/>
              <a:buFont typeface="Arial"/>
              <a:buChar char="•"/>
            </a:pPr>
            <a:r>
              <a:rPr sz="1300" b="0" i="0">
                <a:solidFill>
                  <a:srgbClr val="14142B"/>
                </a:solidFill>
                <a:latin typeface="Calibri"/>
              </a:rPr>
              <a:t>Long chains are weak: three-call scenarios pass 5 of 16.</a:t>
            </a:r>
          </a:p>
          <a:p>
            <a:pPr marL="201168" indent="-201168" algn="l">
              <a:lnSpc>
                <a:spcPct val="105000"/>
              </a:lnSpc>
              <a:spcAft>
                <a:spcPts val="900"/>
              </a:spcAft>
              <a:buClr>
                <a:srgbClr val="C2415B"/>
              </a:buClr>
              <a:buSzPct val="100000"/>
              <a:buFont typeface="Arial"/>
              <a:buChar char="•"/>
            </a:pPr>
            <a:r>
              <a:rPr sz="1300" b="0" i="0">
                <a:solidFill>
                  <a:srgbClr val="14142B"/>
                </a:solidFill>
                <a:latin typeface="Calibri"/>
              </a:rPr>
              <a:t>The ledger lives in memory: no exactly-once guarantee across crashes or restarts.</a:t>
            </a:r>
          </a:p>
          <a:p>
            <a:pPr marL="201168" indent="-201168" algn="l">
              <a:lnSpc>
                <a:spcPct val="105000"/>
              </a:lnSpc>
              <a:spcAft>
                <a:spcPts val="900"/>
              </a:spcAft>
              <a:buClr>
                <a:srgbClr val="C2415B"/>
              </a:buClr>
              <a:buSzPct val="100000"/>
              <a:buFont typeface="Arial"/>
              <a:buChar char="•"/>
            </a:pPr>
            <a:r>
              <a:rPr sz="1300" b="0" i="0">
                <a:solidFill>
                  <a:srgbClr val="14142B"/>
                </a:solidFill>
                <a:latin typeface="Calibri"/>
              </a:rPr>
              <a:t>Tested with recorded and synthetic speech; human microphones and echo are untested.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What’s next</a:t>
            </a:r>
            <a:endParaRPr sz="4400" b="1">
              <a:solidFill>
                <a:srgbClr val="704EA6"/>
              </a:solidFill>
            </a:endParaRPr>
          </a:p>
        </p:txBody>
      </p:sp>
      <p:sp>
        <p:nvSpPr>
          <p:cNvPr id="144" name="Step 1"/>
          <p:cNvSpPr/>
          <p:nvPr/>
        </p:nvSpPr>
        <p:spPr>
          <a:xfrm>
            <a:off x="841248" y="1892807"/>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1</a:t>
            </a:r>
          </a:p>
        </p:txBody>
      </p:sp>
      <p:sp>
        <p:nvSpPr>
          <p:cNvPr id="145" name="Re-run on the organizers’ setup"/>
          <p:cNvSpPr txBox="1"/>
          <p:nvPr/>
        </p:nvSpPr>
        <p:spPr>
          <a:xfrm>
            <a:off x="1508760" y="1874519"/>
            <a:ext cx="9829800" cy="960120"/>
          </a:xfrm>
          <a:prstGeom prst="rect">
            <a:avLst/>
          </a:prstGeom>
          <a:noFill/>
        </p:spPr>
        <p:txBody>
          <a:bodyPr wrap="square" lIns="0" tIns="0" rIns="0" bIns="0" anchor="t">
            <a:spAutoFit/>
          </a:bodyPr>
          <a:lstStyle/>
          <a:p>
            <a:pPr algn="l">
              <a:spcAft>
                <a:spcPts val="300"/>
              </a:spcAft>
            </a:pPr>
            <a:r>
              <a:rPr sz="1800" b="1" i="0">
                <a:solidFill>
                  <a:srgbClr val="14142B"/>
                </a:solidFill>
                <a:latin typeface="Calibri"/>
              </a:rPr>
              <a:t>Re-run on the organizers’ setup</a:t>
            </a:r>
          </a:p>
          <a:p>
            <a:pPr algn="l">
              <a:lnSpc>
                <a:spcPct val="105000"/>
              </a:lnSpc>
              <a:spcAft>
                <a:spcPts val="0"/>
              </a:spcAft>
            </a:pPr>
            <a:r>
              <a:rPr sz="1400" b="0" i="0">
                <a:solidFill>
                  <a:srgbClr val="63637E"/>
                </a:solidFill>
                <a:latin typeface="Calibri"/>
              </a:rPr>
              <a:t>Current code on CUDA: Qwen3-14B-AWQ on vLLM, NeMo speech recognition and the official LLM judge, so our number can be compared with theirs.</a:t>
            </a:r>
          </a:p>
        </p:txBody>
      </p:sp>
      <p:sp>
        <p:nvSpPr>
          <p:cNvPr id="146" name="Step 2"/>
          <p:cNvSpPr/>
          <p:nvPr/>
        </p:nvSpPr>
        <p:spPr>
          <a:xfrm>
            <a:off x="841248" y="2971799"/>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2</a:t>
            </a:r>
          </a:p>
        </p:txBody>
      </p:sp>
      <p:sp>
        <p:nvSpPr>
          <p:cNvPr id="147" name="Stop missing calls"/>
          <p:cNvSpPr txBox="1"/>
          <p:nvPr/>
        </p:nvSpPr>
        <p:spPr>
          <a:xfrm>
            <a:off x="1508760" y="2953511"/>
            <a:ext cx="9829800" cy="960120"/>
          </a:xfrm>
          <a:prstGeom prst="rect">
            <a:avLst/>
          </a:prstGeom>
          <a:noFill/>
        </p:spPr>
        <p:txBody>
          <a:bodyPr wrap="square" lIns="0" tIns="0" rIns="0" bIns="0" anchor="t">
            <a:spAutoFit/>
          </a:bodyPr>
          <a:lstStyle/>
          <a:p>
            <a:pPr algn="l">
              <a:spcAft>
                <a:spcPts val="300"/>
              </a:spcAft>
            </a:pPr>
            <a:r>
              <a:rPr sz="1800" b="1" i="0">
                <a:solidFill>
                  <a:srgbClr val="14142B"/>
                </a:solidFill>
                <a:latin typeface="Calibri"/>
              </a:rPr>
              <a:t>Stop missing calls</a:t>
            </a:r>
          </a:p>
          <a:p>
            <a:pPr algn="l">
              <a:lnSpc>
                <a:spcPct val="105000"/>
              </a:lnSpc>
              <a:spcAft>
                <a:spcPts val="0"/>
              </a:spcAft>
            </a:pPr>
            <a:r>
              <a:rPr sz="1400" b="0" i="0">
                <a:solidFill>
                  <a:srgbClr val="63637E"/>
                </a:solidFill>
                <a:latin typeface="Calibri"/>
              </a:rPr>
              <a:t>23 of 42 failures made no tool call, and three-call chains pass 5 of 16. Study each one and strengthen planning for dependent calls.</a:t>
            </a:r>
          </a:p>
        </p:txBody>
      </p:sp>
      <p:sp>
        <p:nvSpPr>
          <p:cNvPr id="148" name="Step 3"/>
          <p:cNvSpPr/>
          <p:nvPr/>
        </p:nvSpPr>
        <p:spPr>
          <a:xfrm>
            <a:off x="841248" y="4050791"/>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3</a:t>
            </a:r>
          </a:p>
        </p:txBody>
      </p:sp>
      <p:sp>
        <p:nvSpPr>
          <p:cNvPr id="149" name="Cut response time"/>
          <p:cNvSpPr txBox="1"/>
          <p:nvPr/>
        </p:nvSpPr>
        <p:spPr>
          <a:xfrm>
            <a:off x="1508760" y="4032504"/>
            <a:ext cx="9829800" cy="960120"/>
          </a:xfrm>
          <a:prstGeom prst="rect">
            <a:avLst/>
          </a:prstGeom>
          <a:noFill/>
        </p:spPr>
        <p:txBody>
          <a:bodyPr wrap="square" lIns="0" tIns="0" rIns="0" bIns="0" anchor="t">
            <a:spAutoFit/>
          </a:bodyPr>
          <a:lstStyle/>
          <a:p>
            <a:pPr algn="l">
              <a:spcAft>
                <a:spcPts val="300"/>
              </a:spcAft>
            </a:pPr>
            <a:r>
              <a:rPr sz="1800" b="1" i="0">
                <a:solidFill>
                  <a:srgbClr val="14142B"/>
                </a:solidFill>
                <a:latin typeface="Calibri"/>
              </a:rPr>
              <a:t>Cut response time</a:t>
            </a:r>
          </a:p>
          <a:p>
            <a:pPr algn="l">
              <a:lnSpc>
                <a:spcPct val="105000"/>
              </a:lnSpc>
              <a:spcAft>
                <a:spcPts val="0"/>
              </a:spcAft>
            </a:pPr>
            <a:r>
              <a:rPr sz="1400" b="0" i="0">
                <a:solidFill>
                  <a:srgbClr val="63637E"/>
                </a:solidFill>
                <a:latin typeface="Calibri"/>
              </a:rPr>
              <a:t>Stream partial transcripts instead of whole segments. The benchmark mean is 4.94 s, and a cold live reply took about 18 s on a 16 GB Mac.</a:t>
            </a:r>
          </a:p>
        </p:txBody>
      </p:sp>
      <p:sp>
        <p:nvSpPr>
          <p:cNvPr id="150" name="Step 4"/>
          <p:cNvSpPr/>
          <p:nvPr/>
        </p:nvSpPr>
        <p:spPr>
          <a:xfrm>
            <a:off x="841248" y="5129783"/>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1500" b="1" i="0">
                <a:solidFill>
                  <a:srgbClr val="FFFFFF"/>
                </a:solidFill>
                <a:latin typeface="Calibri"/>
              </a:rPr>
              <a:t>4</a:t>
            </a:r>
          </a:p>
        </p:txBody>
      </p:sp>
      <p:sp>
        <p:nvSpPr>
          <p:cNvPr id="151" name="Test with real people"/>
          <p:cNvSpPr txBox="1"/>
          <p:nvPr/>
        </p:nvSpPr>
        <p:spPr>
          <a:xfrm>
            <a:off x="1508760" y="5111496"/>
            <a:ext cx="9829800" cy="960120"/>
          </a:xfrm>
          <a:prstGeom prst="rect">
            <a:avLst/>
          </a:prstGeom>
          <a:noFill/>
        </p:spPr>
        <p:txBody>
          <a:bodyPr wrap="square" lIns="0" tIns="0" rIns="0" bIns="0" anchor="t">
            <a:spAutoFit/>
          </a:bodyPr>
          <a:lstStyle/>
          <a:p>
            <a:pPr algn="l">
              <a:spcAft>
                <a:spcPts val="300"/>
              </a:spcAft>
            </a:pPr>
            <a:r>
              <a:rPr sz="1800" b="1" i="0">
                <a:solidFill>
                  <a:srgbClr val="14142B"/>
                </a:solidFill>
                <a:latin typeface="Calibri"/>
              </a:rPr>
              <a:t>Test with real people</a:t>
            </a:r>
          </a:p>
          <a:p>
            <a:pPr algn="l">
              <a:lnSpc>
                <a:spcPct val="105000"/>
              </a:lnSpc>
              <a:spcAft>
                <a:spcPts val="0"/>
              </a:spcAft>
            </a:pPr>
            <a:r>
              <a:rPr sz="1400" b="0" i="0">
                <a:solidFill>
                  <a:srgbClr val="63637E"/>
                </a:solidFill>
                <a:latin typeface="Calibri"/>
              </a:rPr>
              <a:t>Human microphones, speaker echo and two live rooms at once are still unverified.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Brownie points slide( differentiation)</a:t>
            </a:r>
            <a:endParaRPr sz="4400" b="1">
              <a:solidFill>
                <a:srgbClr val="704EA6"/>
              </a:solidFill>
            </a:endParaRPr>
          </a:p>
        </p:txBody>
      </p:sp>
      <p:sp>
        <p:nvSpPr>
          <p:cNvPr id="150" name="Fully local"/>
          <p:cNvSpPr/>
          <p:nvPr/>
        </p:nvSpPr>
        <p:spPr>
          <a:xfrm>
            <a:off x="841248" y="1920240"/>
            <a:ext cx="3328416" cy="1645920"/>
          </a:xfrm>
          <a:prstGeom prst="roundRect">
            <a:avLst>
              <a:gd name="adj" fmla="val 4444"/>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t"/>
          <a:lstStyle/>
          <a:p>
            <a:pPr algn="l">
              <a:spcAft>
                <a:spcPts val="800"/>
              </a:spcAft>
            </a:pPr>
            <a:r>
              <a:rPr sz="1800" b="1" i="0">
                <a:solidFill>
                  <a:srgbClr val="6D28D9"/>
                </a:solidFill>
                <a:latin typeface="Calibri"/>
              </a:rPr>
              <a:t>Fully local</a:t>
            </a:r>
          </a:p>
          <a:p>
            <a:pPr algn="l">
              <a:lnSpc>
                <a:spcPct val="108000"/>
              </a:lnSpc>
              <a:spcAft>
                <a:spcPts val="0"/>
              </a:spcAft>
            </a:pPr>
            <a:r>
              <a:rPr sz="1400" b="0" i="0">
                <a:solidFill>
                  <a:srgbClr val="14142B"/>
                </a:solidFill>
                <a:latin typeface="Calibri"/>
              </a:rPr>
              <a:t>No hosted model API at evaluation time. Qwen3, Parakeet and Kokoro run on the machine; inference costs nothing.</a:t>
            </a:r>
          </a:p>
        </p:txBody>
      </p:sp>
      <p:sp>
        <p:nvSpPr>
          <p:cNvPr id="151" name="Correct by construction"/>
          <p:cNvSpPr/>
          <p:nvPr/>
        </p:nvSpPr>
        <p:spPr>
          <a:xfrm>
            <a:off x="4434840" y="1920240"/>
            <a:ext cx="3328416" cy="1645920"/>
          </a:xfrm>
          <a:prstGeom prst="roundRect">
            <a:avLst>
              <a:gd name="adj" fmla="val 4444"/>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t"/>
          <a:lstStyle/>
          <a:p>
            <a:pPr algn="l">
              <a:spcAft>
                <a:spcPts val="800"/>
              </a:spcAft>
            </a:pPr>
            <a:r>
              <a:rPr sz="1800" b="1" i="0">
                <a:solidFill>
                  <a:srgbClr val="6D28D9"/>
                </a:solidFill>
                <a:latin typeface="Calibri"/>
              </a:rPr>
              <a:t>Correct by construction</a:t>
            </a:r>
          </a:p>
          <a:p>
            <a:pPr algn="l">
              <a:lnSpc>
                <a:spcPct val="108000"/>
              </a:lnSpc>
              <a:spcAft>
                <a:spcPts val="0"/>
              </a:spcAft>
            </a:pPr>
            <a:r>
              <a:rPr sz="1400" b="0" i="0">
                <a:solidFill>
                  <a:srgbClr val="14142B"/>
                </a:solidFill>
                <a:latin typeface="Calibri"/>
              </a:rPr>
              <a:t>Commit gate, intent versions and an action ledger, enforced in code rather than hoped for in a prompt.</a:t>
            </a:r>
          </a:p>
        </p:txBody>
      </p:sp>
      <p:sp>
        <p:nvSpPr>
          <p:cNvPr id="152" name="Honest evaluation"/>
          <p:cNvSpPr/>
          <p:nvPr/>
        </p:nvSpPr>
        <p:spPr>
          <a:xfrm>
            <a:off x="8028432" y="1920240"/>
            <a:ext cx="3328416" cy="1645920"/>
          </a:xfrm>
          <a:prstGeom prst="roundRect">
            <a:avLst>
              <a:gd name="adj" fmla="val 4444"/>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t"/>
          <a:lstStyle/>
          <a:p>
            <a:pPr algn="l">
              <a:spcAft>
                <a:spcPts val="800"/>
              </a:spcAft>
            </a:pPr>
            <a:r>
              <a:rPr sz="1800" b="1" i="0">
                <a:solidFill>
                  <a:srgbClr val="6D28D9"/>
                </a:solidFill>
                <a:latin typeface="Calibri"/>
              </a:rPr>
              <a:t>Honest evaluation</a:t>
            </a:r>
          </a:p>
          <a:p>
            <a:pPr algn="l">
              <a:lnSpc>
                <a:spcPct val="108000"/>
              </a:lnSpc>
              <a:spcAft>
                <a:spcPts val="0"/>
              </a:spcAft>
            </a:pPr>
            <a:r>
              <a:rPr sz="1400" b="0" i="0">
                <a:solidFill>
                  <a:srgbClr val="14142B"/>
                </a:solidFill>
                <a:latin typeface="Calibri"/>
              </a:rPr>
              <a:t>No benchmark answers in prompts or tuning. We tuned on our own synthetic set and report every caveat.</a:t>
            </a:r>
          </a:p>
        </p:txBody>
      </p:sp>
      <p:sp>
        <p:nvSpPr>
          <p:cNvPr id="153" name="Reproducible"/>
          <p:cNvSpPr/>
          <p:nvPr/>
        </p:nvSpPr>
        <p:spPr>
          <a:xfrm>
            <a:off x="841248" y="3794760"/>
            <a:ext cx="3328416" cy="1645920"/>
          </a:xfrm>
          <a:prstGeom prst="roundRect">
            <a:avLst>
              <a:gd name="adj" fmla="val 4444"/>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t"/>
          <a:lstStyle/>
          <a:p>
            <a:pPr algn="l">
              <a:spcAft>
                <a:spcPts val="800"/>
              </a:spcAft>
            </a:pPr>
            <a:r>
              <a:rPr sz="1800" b="1" i="0">
                <a:solidFill>
                  <a:srgbClr val="6D28D9"/>
                </a:solidFill>
                <a:latin typeface="Calibri"/>
              </a:rPr>
              <a:t>Reproducible</a:t>
            </a:r>
          </a:p>
          <a:p>
            <a:pPr algn="l">
              <a:lnSpc>
                <a:spcPct val="108000"/>
              </a:lnSpc>
              <a:spcAft>
                <a:spcPts val="0"/>
              </a:spcAft>
            </a:pPr>
            <a:r>
              <a:rPr sz="1400" b="0" i="0">
                <a:solidFill>
                  <a:srgbClr val="14142B"/>
                </a:solidFill>
                <a:latin typeface="Calibri"/>
              </a:rPr>
              <a:t>One command installs, downloads pinned models, starts the agent and scores FDB-v3.</a:t>
            </a:r>
          </a:p>
        </p:txBody>
      </p:sp>
      <p:sp>
        <p:nvSpPr>
          <p:cNvPr id="154" name="Tested"/>
          <p:cNvSpPr/>
          <p:nvPr/>
        </p:nvSpPr>
        <p:spPr>
          <a:xfrm>
            <a:off x="4434840" y="3794760"/>
            <a:ext cx="3328416" cy="1645920"/>
          </a:xfrm>
          <a:prstGeom prst="roundRect">
            <a:avLst>
              <a:gd name="adj" fmla="val 4444"/>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t"/>
          <a:lstStyle/>
          <a:p>
            <a:pPr algn="l">
              <a:spcAft>
                <a:spcPts val="800"/>
              </a:spcAft>
            </a:pPr>
            <a:r>
              <a:rPr sz="1800" b="1" i="0">
                <a:solidFill>
                  <a:srgbClr val="6D28D9"/>
                </a:solidFill>
                <a:latin typeface="Calibri"/>
              </a:rPr>
              <a:t>Tested</a:t>
            </a:r>
          </a:p>
          <a:p>
            <a:pPr algn="l">
              <a:lnSpc>
                <a:spcPct val="108000"/>
              </a:lnSpc>
              <a:spcAft>
                <a:spcPts val="0"/>
              </a:spcAft>
            </a:pPr>
            <a:r>
              <a:rPr sz="1400" b="0" i="0">
                <a:solidFill>
                  <a:srgbClr val="14142B"/>
                </a:solidFill>
                <a:latin typeface="Calibri"/>
              </a:rPr>
              <a:t>797 unit tests cover the coordinator, tools, scoring and failure paths.</a:t>
            </a:r>
          </a:p>
        </p:txBody>
      </p:sp>
      <p:sp>
        <p:nvSpPr>
          <p:cNvPr id="155" name="Observable"/>
          <p:cNvSpPr/>
          <p:nvPr/>
        </p:nvSpPr>
        <p:spPr>
          <a:xfrm>
            <a:off x="8028432" y="3794760"/>
            <a:ext cx="3328416" cy="1645920"/>
          </a:xfrm>
          <a:prstGeom prst="roundRect">
            <a:avLst>
              <a:gd name="adj" fmla="val 4444"/>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wrap="square" lIns="201168" tIns="150876" rIns="201168" bIns="150876" rtlCol="0" anchor="t"/>
          <a:lstStyle/>
          <a:p>
            <a:pPr algn="l">
              <a:spcAft>
                <a:spcPts val="800"/>
              </a:spcAft>
            </a:pPr>
            <a:r>
              <a:rPr sz="1800" b="1" i="0">
                <a:solidFill>
                  <a:srgbClr val="6D28D9"/>
                </a:solidFill>
                <a:latin typeface="Calibri"/>
              </a:rPr>
              <a:t>Observable</a:t>
            </a:r>
          </a:p>
          <a:p>
            <a:pPr algn="l">
              <a:lnSpc>
                <a:spcPct val="108000"/>
              </a:lnSpc>
              <a:spcAft>
                <a:spcPts val="0"/>
              </a:spcAft>
            </a:pPr>
            <a:r>
              <a:rPr sz="1400" b="0" i="0">
                <a:solidFill>
                  <a:srgbClr val="14142B"/>
                </a:solidFill>
                <a:latin typeface="Calibri"/>
              </a:rPr>
              <a:t>The web demo shows a live timeline of every hold, cancellation and tool call, plus the listening strip.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0"/>
              </a:spcAft>
              <a:buClr>
                <a:srgbClr val="63637E"/>
              </a:buClr>
              <a:buSzPts val="2800"/>
              <a:buChar char="•"/>
            </a:pPr>
            <a:r>
              <a:rPr lang="en-US" sz="2800">
                <a:solidFill>
                  <a:srgbClr val="63637E"/>
                </a:solidFill>
                <a:latin typeface="Calibri"/>
                <a:ea typeface="Calibri"/>
                <a:cs typeface="Calibri"/>
                <a:sym typeface="Calibri"/>
              </a:rPr>
              <a:t>Working prototype code — public or shared GitHub repo (Y/N)</a:t>
            </a:r>
            <a:r>
              <a:rPr sz="2800" b="1" i="0">
                <a:solidFill>
                  <a:srgbClr val="6D28D9"/>
                </a:solidFill>
                <a:latin typeface="Calibri"/>
              </a:rPr>
              <a:t>:  Y</a:t>
            </a:r>
            <a:endParaRPr sz="2800"/>
          </a:p>
          <a:p>
            <a:pPr marL="177800" lvl="0" indent="-177800" algn="l" rtl="0">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README with reproducible setup instructions (Y/N)</a:t>
            </a:r>
            <a:r>
              <a:rPr sz="2800" b="1" i="0">
                <a:solidFill>
                  <a:srgbClr val="6D28D9"/>
                </a:solidFill>
                <a:latin typeface="Calibri"/>
              </a:rPr>
              <a:t>:  Y</a:t>
            </a:r>
            <a:endParaRPr sz="2800"/>
          </a:p>
          <a:p>
            <a:pPr marL="177800" lvl="0" indent="-177800" algn="l" rtl="0">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Demo video, max 5 minutes (YouTube or Drive link)</a:t>
            </a:r>
            <a:r>
              <a:rPr sz="2800" b="1" i="0">
                <a:solidFill>
                  <a:srgbClr val="6D28D9"/>
                </a:solidFill>
                <a:latin typeface="Calibri"/>
              </a:rPr>
              <a:t>:  </a:t>
            </a:r>
            <a:endParaRPr sz="2800"/>
          </a:p>
          <a:p>
            <a:pPr marL="177800" lvl="0" indent="-177800" algn="l" rtl="0">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Presentation file (PPT or PDF) (Y/N)</a:t>
            </a:r>
            <a:r>
              <a:rPr sz="2800" b="1" i="0">
                <a:solidFill>
                  <a:srgbClr val="6D28D9"/>
                </a:solidFill>
                <a:latin typeface="Calibri"/>
              </a:rPr>
              <a:t>:  Y</a:t>
            </a:r>
            <a:endParaRPr sz="2800"/>
          </a:p>
          <a:p>
            <a:pPr marL="0" lvl="0" indent="0" algn="l" rtl="0">
              <a:lnSpc>
                <a:spcPct val="90000"/>
              </a:lnSpc>
              <a:spcBef>
                <a:spcPts val="1500"/>
              </a:spcBef>
              <a:spcAft>
                <a:spcPts val="0"/>
              </a:spcAft>
              <a:buClr>
                <a:schemeClr val="dk1"/>
              </a:buClr>
              <a:buSzPts val="28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4600"/>
              <a:buFont typeface="Arial"/>
              <a:buNone/>
            </a:pPr>
            <a:r>
              <a:rPr lang="en-US" sz="4600" b="1" i="0" u="none" strike="noStrike" cap="none">
                <a:solidFill>
                  <a:srgbClr val="14142B"/>
                </a:solidFill>
                <a:latin typeface="Arial"/>
                <a:ea typeface="Arial"/>
                <a:cs typeface="Arial"/>
                <a:sym typeface="Arial"/>
              </a:rPr>
              <a:t>Thank you</a:t>
            </a:r>
            <a:endParaRPr sz="4600" b="0" i="0" u="none" strike="noStrike" cap="non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2507</Words>
  <Application>Microsoft Macintosh PowerPoint</Application>
  <PresentationFormat>Widescreen</PresentationFormat>
  <Paragraphs>205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Megha Gautam</cp:lastModifiedBy>
  <cp:revision>1</cp:revision>
  <dcterms:created xsi:type="dcterms:W3CDTF">2026-09-07T12:01:01Z</dcterms:created>
  <dcterms:modified xsi:type="dcterms:W3CDTF">2026-10-04T17:29:19Z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