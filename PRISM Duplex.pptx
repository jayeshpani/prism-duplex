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PRISM Duplex is our Theme 05 submission: a full-duplex voice agent built as a custom LiveKit agent, with every model running locally. The line along the bottom is the idea in one picture: the user's voice above the line, the agent's below, on one clock. Where they overlap, the user is talking over the agent, and the agent has to cope with that rather than wait for its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people pause, hesitate and correct themselves mid-sentence. A turn-taking assistant acts on the first half of the sentence, so a stale route to the airport gets computed before the correction arrives. On Full-Duplex-Bench v3 a scenario passes only if exactly the expected tools are called with the right arguments, so one stale call fails the whole scenario. The brief asks for three things at once: respond fast, never block on tools, and recover cleanly from corrections without repeating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fast path keeps the floor: voice activity detection and Parakeet transcribe each finished segment locally, and if planning takes longer than 700 milliseconds the agent says a generic "One moment." It never claims completion. The coordinator decides when to act: Qwen3 turns the possibly disfluent request into a plan of tool calls, the commit gate holds that plan briefly in case the user keeps talking, and the ledger keys every state-changing call by tool and arguments so an identical one is blocked. The slow path executes the plan as an async call graph, then the responder grounds a reply in the actual results and Kokoro speaks it back into the room. Every LiveKit room gets its own coordinator, ledger and tool state; nothing is shared between conversations.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design choice. Nothing executes until the utterance is resolved and has passed the commit gate. When the user pauses after "take me to the airport", the plan is held; when they keep talking, the held plan is dropped, the new words are merged, and the whole request is planned again. So the airport route is never sent. If a correction arrives after commit, reads still in flight are cancelled as stale. A write that has already been dispatched is allowed to finish rather than leaving an unknown state, and it is never sent twice. We are honest about the limit: the ledger is in memory, so there is no exactly-once guarantee across crashes or restarts.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best full run passes 58 of the 100 FDB-v3 scenarios under strict scoring: every expected tool, correct arguments, nothing extra. When the agent did take its turn, it chose the right tools 82.3% of the time and the right arguments 69.9% of the time. Finance and e-commerce are strong; travel and housing are where we lose most. Please read the caveats: this was scored by exact match rather than the official LLM judge, on a Mac with an MLX port of the same Parakeet checkpoint, and on the revision from 25 September. These are self-reported numbers; only the organizers' re-run with the pinned judge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useful slide for us. Of the 42 failed scenarios, only one failed because of an extra tool call, which is exactly the stale or duplicate call our commit gate is designed to prevent. More than half the failures, 23, are scenarios where the agent made no tool call at all, and 15 picked the right tools with wrong arguments. Longer chains are harder: three-call scenarios pass 5 of 16. Scenarios with self-corrections pass at 58.8 percent, the same as the overall rate, so corrections are not our weak spot; completing multi-step requests is. Same caveat as before: exact-match scoring, our own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extension is a hands-free driving assistant. It reuses the coordinator unchanged; only the tool manifest differs, with six tools: compute route, start navigation, add waypoint, find nearby, cancel navigation and search destination, on a deterministic Bengaluru map. The screenshot is from a live run today: "Navigate to the airport" produced a real route to Kempegowda International Airport with an 88-minute estimate, and the strip shows a follow-up correction heard while the agent was still speaking. The behaviours to demonstrate live are a destination change, a coffee stop added mid-answer, and a repeated stop being ignored. Routing and arrival times are simulated; there is no GPS, traffic or vehicle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priority order. First, re-run the current code the way the organizers will, on CUDA with Qwen3-14B-AWQ, NeMo and the pinned LLM judge, so our self-reported number is comparable. Second, the failure analysis points straight at missed calls and long chains, so that is where the planning work goes. Third, latency: today we transcribe whole segments; streaming partial transcripts would let the planner start earlier. Fourth, everything so far has been tested with recorded and synthetic speech; real people, real speakers and simultaneous rooms still need testing.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EEF1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7" y="812767"/>
            <a:ext cx="10566452" cy="447001"/>
          </a:xfrm>
          <a:prstGeom prst="rect">
            <a:avLst/>
          </a:prstGeom>
          <a:noFill/>
          <a:ln/>
        </p:spPr>
        <p:txBody>
          <a:bodyPr wrap="square" lIns="0" tIns="0" rIns="0" bIns="0" rtlCol="0" anchor="t"/>
          <a:lstStyle>
            <a:lvl1pPr algn="l" indent="0" marL="0">
              <a:lnSpc>
                <a:spcPct val="115000"/>
              </a:lnSpc>
              <a:buNone/>
              <a:defRPr lang="en-US" sz="3200" dirty="0">
                <a:solidFill>
                  <a:srgbClr val="1C2430"/>
                </a:solidFill>
                <a:latin typeface="Instrument Sans" pitchFamily="34" charset="0"/>
                <a:ea typeface="Instrument Sans" pitchFamily="34" charset="-122"/>
                <a:cs typeface="Instrument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67" y="1564569"/>
            <a:ext cx="10566433" cy="4480631"/>
          </a:xfrm>
          <a:prstGeom prst="rect">
            <a:avLst/>
          </a:prstGeom>
          <a:noFill/>
          <a:ln/>
        </p:spPr>
        <p:txBody>
          <a:bodyPr wrap="square" lIns="0" tIns="0" rIns="0" bIns="0" rtlCol="0" anchor="t"/>
          <a:lstStyle>
            <a:lvl1pPr algn="l" indent="0" marL="0">
              <a:lnSpc>
                <a:spcPct val="140000"/>
              </a:lnSpc>
              <a:buNone/>
              <a:defRPr lang="en-US" sz="1600" dirty="0">
                <a:solidFill>
                  <a:srgbClr val="1C2430"/>
                </a:solidFill>
                <a:latin typeface="Instrument Sans" pitchFamily="34" charset="0"/>
                <a:ea typeface="Instrument Sans" pitchFamily="34" charset="-122"/>
                <a:cs typeface="Instrument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F1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7" y="812767"/>
            <a:ext cx="10566452" cy="447001"/>
          </a:xfrm>
          <a:prstGeom prst="rect">
            <a:avLst/>
          </a:prstGeom>
          <a:noFill/>
          <a:ln/>
        </p:spPr>
        <p:txBody>
          <a:bodyPr wrap="square" lIns="0" tIns="0" rIns="0" bIns="0" rtlCol="0" anchor="t"/>
          <a:lstStyle>
            <a:lvl1pPr algn="l" indent="0" marL="0">
              <a:lnSpc>
                <a:spcPct val="115000"/>
              </a:lnSpc>
              <a:buNone/>
              <a:defRPr lang="en-US" sz="3200" dirty="0">
                <a:solidFill>
                  <a:srgbClr val="1C2430"/>
                </a:solidFill>
                <a:latin typeface="Instrument Sans" pitchFamily="34" charset="0"/>
                <a:ea typeface="Instrument Sans" pitchFamily="34" charset="-122"/>
                <a:cs typeface="Instrument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67" y="1564569"/>
            <a:ext cx="10566433" cy="4480631"/>
          </a:xfrm>
          <a:prstGeom prst="rect">
            <a:avLst/>
          </a:prstGeom>
          <a:noFill/>
          <a:ln/>
        </p:spPr>
        <p:txBody>
          <a:bodyPr wrap="square" lIns="0" tIns="0" rIns="0" bIns="0" rtlCol="0" anchor="t"/>
          <a:lstStyle>
            <a:lvl1pPr algn="l" indent="0" marL="0">
              <a:lnSpc>
                <a:spcPct val="140000"/>
              </a:lnSpc>
              <a:buNone/>
              <a:defRPr lang="en-US" sz="1600" dirty="0">
                <a:solidFill>
                  <a:srgbClr val="1C2430"/>
                </a:solidFill>
                <a:latin typeface="Instrument Sans" pitchFamily="34" charset="0"/>
                <a:ea typeface="Instrument Sans" pitchFamily="34" charset="-122"/>
                <a:cs typeface="Instrument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2.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430"/>
        </a:solidFill>
      </p:bgPr>
    </p:bg>
    <p:spTree>
      <p:nvGrpSpPr>
        <p:cNvPr id="1" name=""/>
        <p:cNvGrpSpPr/>
        <p:nvPr/>
      </p:nvGrpSpPr>
      <p:grpSpPr>
        <a:xfrm>
          <a:off x="0" y="0"/>
          <a:ext cx="0" cy="0"/>
          <a:chOff x="0" y="0"/>
          <a:chExt cx="0" cy="0"/>
        </a:xfrm>
      </p:grpSpPr>
      <p:pic>
        <p:nvPicPr>
          <p:cNvPr id="2" name="Image 0" descr="Illustration: a voice trace on one timeline, the user's voice above the line and the agent's below, overlapping where the user talks over the agent">    </p:cNvPr>
          <p:cNvPicPr>
            <a:picLocks noChangeAspect="1"/>
          </p:cNvPicPr>
          <p:nvPr/>
        </p:nvPicPr>
        <p:blipFill>
          <a:blip r:embed="rId1"/>
          <a:srcRect l="-44" r="-44" t="0" b="0"/>
          <a:stretch/>
        </p:blipFill>
        <p:spPr>
          <a:xfrm>
            <a:off x="812767" y="3810000"/>
            <a:ext cx="10566280" cy="1396952"/>
          </a:xfrm>
          <a:prstGeom prst="rect">
            <a:avLst/>
          </a:prstGeom>
        </p:spPr>
      </p:pic>
      <p:sp>
        <p:nvSpPr>
          <p:cNvPr id="3" name="Text 0"/>
          <p:cNvSpPr/>
          <p:nvPr/>
        </p:nvSpPr>
        <p:spPr>
          <a:xfrm>
            <a:off x="812767" y="4114788"/>
            <a:ext cx="132080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4"/>
                </a:solidFill>
                <a:latin typeface="Instrument Sans" pitchFamily="34" charset="0"/>
                <a:ea typeface="Instrument Sans" pitchFamily="34" charset="-122"/>
                <a:cs typeface="Instrument Sans" pitchFamily="34" charset="-120"/>
              </a:rPr>
              <a:t>You</a:t>
            </a:r>
            <a:endParaRPr lang="en-US" sz="1200" dirty="0"/>
          </a:p>
        </p:txBody>
      </p:sp>
      <p:sp>
        <p:nvSpPr>
          <p:cNvPr id="4" name="Text 1"/>
          <p:cNvSpPr/>
          <p:nvPr/>
        </p:nvSpPr>
        <p:spPr>
          <a:xfrm>
            <a:off x="812767" y="4711684"/>
            <a:ext cx="1320800"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8FF"/>
                </a:solidFill>
                <a:latin typeface="Instrument Sans" pitchFamily="34" charset="0"/>
                <a:ea typeface="Instrument Sans" pitchFamily="34" charset="-122"/>
                <a:cs typeface="Instrument Sans" pitchFamily="34" charset="-120"/>
              </a:rPr>
              <a:t>Agent</a:t>
            </a:r>
            <a:endParaRPr lang="en-US" sz="1200" dirty="0"/>
          </a:p>
        </p:txBody>
      </p:sp>
      <p:sp>
        <p:nvSpPr>
          <p:cNvPr id="5" name="Text 2"/>
          <p:cNvSpPr/>
          <p:nvPr/>
        </p:nvSpPr>
        <p:spPr>
          <a:xfrm>
            <a:off x="812767" y="812767"/>
            <a:ext cx="10883445" cy="27430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4C4"/>
                </a:solidFill>
                <a:latin typeface="Instrument Sans" pitchFamily="34" charset="0"/>
                <a:ea typeface="Instrument Sans" pitchFamily="34" charset="-122"/>
                <a:cs typeface="Instrument Sans" pitchFamily="34" charset="-120"/>
              </a:rPr>
              <a:t>Samsung PRISM, Theme 05: Interruptible Real-Time Agents</a:t>
            </a:r>
            <a:endParaRPr lang="en-US" sz="1400" dirty="0"/>
          </a:p>
        </p:txBody>
      </p:sp>
      <p:sp>
        <p:nvSpPr>
          <p:cNvPr id="6" name="Text 3"/>
          <p:cNvSpPr/>
          <p:nvPr>
            <p:ph type="title"/>
          </p:nvPr>
        </p:nvSpPr>
        <p:spPr>
          <a:xfrm>
            <a:off x="812767" y="1214052"/>
            <a:ext cx="10883445" cy="958849"/>
          </a:xfrm>
          <a:prstGeom prst="rect">
            <a:avLst/>
          </a:prstGeom>
          <a:noFill/>
          <a:ln/>
        </p:spPr>
        <p:txBody>
          <a:bodyPr wrap="square" lIns="0" tIns="0" rIns="0" bIns="0" rtlCol="0" anchor="t">
            <a:normAutofit/>
          </a:bodyPr>
          <a:lstStyle/>
          <a:p>
            <a:pPr algn="l" indent="0" marL="0">
              <a:lnSpc>
                <a:spcPts val="7350"/>
              </a:lnSpc>
              <a:buNone/>
            </a:pPr>
            <a:r>
              <a:rPr lang="en-US" sz="7000" b="1" i="0" spc="-150" kern="0" dirty="0">
                <a:solidFill>
                  <a:srgbClr val="EEF1F4"/>
                </a:solidFill>
                <a:latin typeface="Instrument Sans" pitchFamily="34" charset="0"/>
                <a:ea typeface="Instrument Sans" pitchFamily="34" charset="-122"/>
                <a:cs typeface="Instrument Sans" pitchFamily="34" charset="-120"/>
              </a:rPr>
              <a:t>PRISM Duplex</a:t>
            </a:r>
            <a:endParaRPr lang="en-US" sz="7000" dirty="0"/>
          </a:p>
        </p:txBody>
      </p:sp>
      <p:sp>
        <p:nvSpPr>
          <p:cNvPr id="7" name="Text 4"/>
          <p:cNvSpPr/>
          <p:nvPr/>
        </p:nvSpPr>
        <p:spPr>
          <a:xfrm>
            <a:off x="812767" y="2299877"/>
            <a:ext cx="8502650" cy="685756"/>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D2DE"/>
                </a:solidFill>
                <a:latin typeface="Instrument Sans" pitchFamily="34" charset="0"/>
                <a:ea typeface="Instrument Sans" pitchFamily="34" charset="-122"/>
                <a:cs typeface="Instrument Sans" pitchFamily="34" charset="-120"/>
              </a:rPr>
              <a:t>A local voice agent that holds its plan until you finish, drops stale work when you change your mind, and blocks duplicate actions.</a:t>
            </a:r>
            <a:endParaRPr lang="en-US" sz="2000" dirty="0"/>
          </a:p>
        </p:txBody>
      </p:sp>
      <p:sp>
        <p:nvSpPr>
          <p:cNvPr id="8" name="Text 5"/>
          <p:cNvSpPr/>
          <p:nvPr/>
        </p:nvSpPr>
        <p:spPr>
          <a:xfrm>
            <a:off x="812767" y="5796304"/>
            <a:ext cx="10883445" cy="27430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4C4"/>
                </a:solidFill>
                <a:latin typeface="Instrument Sans" pitchFamily="34" charset="0"/>
                <a:ea typeface="Instrument Sans" pitchFamily="34" charset="-122"/>
                <a:cs typeface="Instrument Sans" pitchFamily="34" charset="-120"/>
              </a:rPr>
              <a:t>[Team name], [member names],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1F4"/>
        </a:solidFill>
      </p:bgPr>
    </p:bg>
    <p:spTree>
      <p:nvGrpSpPr>
        <p:cNvPr id="1" name=""/>
        <p:cNvGrpSpPr/>
        <p:nvPr/>
      </p:nvGrpSpPr>
      <p:grpSpPr>
        <a:xfrm>
          <a:off x="0" y="0"/>
          <a:ext cx="0" cy="0"/>
          <a:chOff x="0" y="0"/>
          <a:chExt cx="0" cy="0"/>
        </a:xfrm>
      </p:grpSpPr>
      <p:sp>
        <p:nvSpPr>
          <p:cNvPr id="2" name="Text 0"/>
          <p:cNvSpPr/>
          <p:nvPr>
            <p:ph type="title"/>
          </p:nvPr>
        </p:nvSpPr>
        <p:spPr>
          <a:xfrm>
            <a:off x="812767" y="812767"/>
            <a:ext cx="10883445" cy="472401"/>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C2430"/>
                </a:solidFill>
                <a:latin typeface="Instrument Sans" pitchFamily="34" charset="0"/>
                <a:ea typeface="Instrument Sans" pitchFamily="34" charset="-122"/>
                <a:cs typeface="Instrument Sans" pitchFamily="34" charset="-120"/>
              </a:rPr>
              <a:t>Assistants take turns. People don’t.</a:t>
            </a:r>
            <a:endParaRPr lang="en-US" sz="3200" dirty="0"/>
          </a:p>
        </p:txBody>
      </p:sp>
      <p:sp>
        <p:nvSpPr>
          <p:cNvPr id="3" name="Text 1"/>
          <p:cNvSpPr/>
          <p:nvPr/>
        </p:nvSpPr>
        <p:spPr>
          <a:xfrm>
            <a:off x="812767" y="1564556"/>
            <a:ext cx="5127792" cy="850914"/>
          </a:xfrm>
          <a:prstGeom prst="rect">
            <a:avLst/>
          </a:prstGeom>
          <a:noFill/>
          <a:ln/>
        </p:spPr>
        <p:txBody>
          <a:bodyPr wrap="square" lIns="0" tIns="0" rIns="0" bIns="0" rtlCol="0" anchor="t">
            <a:normAutofit/>
          </a:bodyPr>
          <a:lstStyle/>
          <a:p>
            <a:pPr algn="l" indent="0" marL="0">
              <a:lnSpc>
                <a:spcPts val="3250"/>
              </a:lnSpc>
              <a:buNone/>
            </a:pPr>
            <a:r>
              <a:rPr lang="en-US" sz="2600" i="1" dirty="0">
                <a:solidFill>
                  <a:srgbClr val="1C2430"/>
                </a:solidFill>
                <a:latin typeface="Newsreader" pitchFamily="18" charset="0"/>
                <a:ea typeface="Newsreader" pitchFamily="18" charset="-122"/>
                <a:cs typeface="Newsreader" pitchFamily="18" charset="-120"/>
              </a:rPr>
              <a:t>“Take me to the airport… actually, the office first.”</a:t>
            </a:r>
            <a:endParaRPr lang="en-US" sz="2600" dirty="0"/>
          </a:p>
        </p:txBody>
      </p:sp>
      <p:sp>
        <p:nvSpPr>
          <p:cNvPr id="4" name="Text 2"/>
          <p:cNvSpPr/>
          <p:nvPr/>
        </p:nvSpPr>
        <p:spPr>
          <a:xfrm>
            <a:off x="812767" y="2644042"/>
            <a:ext cx="5127792" cy="25649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6"/>
                </a:solidFill>
                <a:latin typeface="Instrument Sans" pitchFamily="34" charset="0"/>
                <a:ea typeface="Instrument Sans" pitchFamily="34" charset="-122"/>
                <a:cs typeface="Instrument Sans" pitchFamily="34" charset="-120"/>
              </a:rPr>
              <a:t>A turn-taking agent</a:t>
            </a:r>
            <a:endParaRPr lang="en-US" sz="1300" dirty="0"/>
          </a:p>
        </p:txBody>
      </p:sp>
      <p:sp>
        <p:nvSpPr>
          <p:cNvPr id="5" name="Text 3"/>
          <p:cNvSpPr/>
          <p:nvPr/>
        </p:nvSpPr>
        <p:spPr>
          <a:xfrm>
            <a:off x="812767" y="2964022"/>
            <a:ext cx="1220149" cy="358083"/>
          </a:xfrm>
          <a:prstGeom prst="roundRect">
            <a:avLst>
              <a:gd name="adj" fmla="val 17733"/>
            </a:avLst>
          </a:prstGeom>
          <a:solidFill>
            <a:srgbClr val="C2415B"/>
          </a:solidFill>
          <a:ln/>
        </p:spPr>
        <p:txBody>
          <a:bodyPr wrap="none" lIns="0" tIns="0" rIns="0" bIns="0" rtlCol="0" anchor="ctr">
            <a:normAutofit/>
          </a:bodyPr>
          <a:lstStyle/>
          <a:p>
            <a:pPr algn="ctr" indent="0" marL="0">
              <a:lnSpc>
                <a:spcPts val="1820"/>
              </a:lnSpc>
              <a:buNone/>
            </a:pPr>
            <a:r>
              <a:rPr lang="en-US" sz="1300" dirty="0">
                <a:solidFill>
                  <a:srgbClr val="FBFBF8"/>
                </a:solidFill>
                <a:latin typeface="Instrument Sans" pitchFamily="34" charset="0"/>
                <a:ea typeface="Instrument Sans" pitchFamily="34" charset="-122"/>
                <a:cs typeface="Instrument Sans" pitchFamily="34" charset="-120"/>
              </a:rPr>
              <a:t>route: airport</a:t>
            </a:r>
            <a:endParaRPr lang="en-US" sz="1300" dirty="0"/>
          </a:p>
        </p:txBody>
      </p:sp>
      <p:sp>
        <p:nvSpPr>
          <p:cNvPr id="6" name="Text 4"/>
          <p:cNvSpPr/>
          <p:nvPr/>
        </p:nvSpPr>
        <p:spPr>
          <a:xfrm>
            <a:off x="2134512" y="2964022"/>
            <a:ext cx="1136778" cy="358083"/>
          </a:xfrm>
          <a:prstGeom prst="roundRect">
            <a:avLst>
              <a:gd name="adj" fmla="val 17733"/>
            </a:avLst>
          </a:prstGeom>
          <a:solidFill>
            <a:srgbClr val="2F5BEA"/>
          </a:solidFill>
          <a:ln/>
        </p:spPr>
        <p:txBody>
          <a:bodyPr wrap="none" lIns="0" tIns="0" rIns="0" bIns="0" rtlCol="0" anchor="ctr">
            <a:normAutofit/>
          </a:bodyPr>
          <a:lstStyle/>
          <a:p>
            <a:pPr algn="ctr" indent="0" marL="0">
              <a:lnSpc>
                <a:spcPts val="1820"/>
              </a:lnSpc>
              <a:buNone/>
            </a:pPr>
            <a:r>
              <a:rPr lang="en-US" sz="1300" dirty="0">
                <a:solidFill>
                  <a:srgbClr val="FBFBF8"/>
                </a:solidFill>
                <a:latin typeface="Instrument Sans" pitchFamily="34" charset="0"/>
                <a:ea typeface="Instrument Sans" pitchFamily="34" charset="-122"/>
                <a:cs typeface="Instrument Sans" pitchFamily="34" charset="-120"/>
              </a:rPr>
              <a:t>route: office</a:t>
            </a:r>
            <a:endParaRPr lang="en-US" sz="1300" dirty="0"/>
          </a:p>
        </p:txBody>
      </p:sp>
      <p:sp>
        <p:nvSpPr>
          <p:cNvPr id="7" name="Text 5"/>
          <p:cNvSpPr/>
          <p:nvPr/>
        </p:nvSpPr>
        <p:spPr>
          <a:xfrm>
            <a:off x="812767" y="3410989"/>
            <a:ext cx="5127792" cy="2564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6"/>
                </a:solidFill>
                <a:latin typeface="Instrument Sans" pitchFamily="34" charset="0"/>
                <a:ea typeface="Instrument Sans" pitchFamily="34" charset="-122"/>
                <a:cs typeface="Instrument Sans" pitchFamily="34" charset="-120"/>
              </a:rPr>
              <a:t>Both calls are logged, so the benchmark fails the scenario.</a:t>
            </a:r>
            <a:endParaRPr lang="en-US" sz="1300" dirty="0"/>
          </a:p>
        </p:txBody>
      </p:sp>
      <p:sp>
        <p:nvSpPr>
          <p:cNvPr id="8" name="Text 6"/>
          <p:cNvSpPr/>
          <p:nvPr/>
        </p:nvSpPr>
        <p:spPr>
          <a:xfrm>
            <a:off x="812767" y="3896058"/>
            <a:ext cx="5127792" cy="25649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6"/>
                </a:solidFill>
                <a:latin typeface="Instrument Sans" pitchFamily="34" charset="0"/>
                <a:ea typeface="Instrument Sans" pitchFamily="34" charset="-122"/>
                <a:cs typeface="Instrument Sans" pitchFamily="34" charset="-120"/>
              </a:rPr>
              <a:t>PRISM Duplex</a:t>
            </a:r>
            <a:endParaRPr lang="en-US" sz="1300" dirty="0"/>
          </a:p>
        </p:txBody>
      </p:sp>
      <p:sp>
        <p:nvSpPr>
          <p:cNvPr id="9" name="Text 7"/>
          <p:cNvSpPr/>
          <p:nvPr/>
        </p:nvSpPr>
        <p:spPr>
          <a:xfrm>
            <a:off x="812767" y="4216039"/>
            <a:ext cx="1136778" cy="358083"/>
          </a:xfrm>
          <a:prstGeom prst="roundRect">
            <a:avLst>
              <a:gd name="adj" fmla="val 17733"/>
            </a:avLst>
          </a:prstGeom>
          <a:solidFill>
            <a:srgbClr val="2F5BEA"/>
          </a:solidFill>
          <a:ln/>
        </p:spPr>
        <p:txBody>
          <a:bodyPr wrap="none" lIns="0" tIns="0" rIns="0" bIns="0" rtlCol="0" anchor="ctr">
            <a:normAutofit/>
          </a:bodyPr>
          <a:lstStyle/>
          <a:p>
            <a:pPr algn="ctr" indent="0" marL="0">
              <a:lnSpc>
                <a:spcPts val="1820"/>
              </a:lnSpc>
              <a:buNone/>
            </a:pPr>
            <a:r>
              <a:rPr lang="en-US" sz="1300" dirty="0">
                <a:solidFill>
                  <a:srgbClr val="FBFBF8"/>
                </a:solidFill>
                <a:latin typeface="Instrument Sans" pitchFamily="34" charset="0"/>
                <a:ea typeface="Instrument Sans" pitchFamily="34" charset="-122"/>
                <a:cs typeface="Instrument Sans" pitchFamily="34" charset="-120"/>
              </a:rPr>
              <a:t>route: office</a:t>
            </a:r>
            <a:endParaRPr lang="en-US" sz="1300" dirty="0"/>
          </a:p>
        </p:txBody>
      </p:sp>
      <p:sp>
        <p:nvSpPr>
          <p:cNvPr id="10" name="Text 8"/>
          <p:cNvSpPr/>
          <p:nvPr/>
        </p:nvSpPr>
        <p:spPr>
          <a:xfrm>
            <a:off x="812767" y="4663005"/>
            <a:ext cx="5127792" cy="2564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6"/>
                </a:solidFill>
                <a:latin typeface="Instrument Sans" pitchFamily="34" charset="0"/>
                <a:ea typeface="Instrument Sans" pitchFamily="34" charset="-122"/>
                <a:cs typeface="Instrument Sans" pitchFamily="34" charset="-120"/>
              </a:rPr>
              <a:t>One call, sent after you finish speaking.</a:t>
            </a:r>
            <a:endParaRPr lang="en-US" sz="1300" dirty="0"/>
          </a:p>
        </p:txBody>
      </p:sp>
      <p:sp>
        <p:nvSpPr>
          <p:cNvPr id="11" name="Text 9"/>
          <p:cNvSpPr/>
          <p:nvPr/>
        </p:nvSpPr>
        <p:spPr>
          <a:xfrm>
            <a:off x="6400781" y="1564556"/>
            <a:ext cx="5127792" cy="2564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6"/>
                </a:solidFill>
                <a:latin typeface="Instrument Sans" pitchFamily="34" charset="0"/>
                <a:ea typeface="Instrument Sans" pitchFamily="34" charset="-122"/>
                <a:cs typeface="Instrument Sans" pitchFamily="34" charset="-120"/>
              </a:rPr>
              <a:t>Theme 05 asks for all three at once:</a:t>
            </a:r>
            <a:endParaRPr lang="en-US" sz="1300" dirty="0"/>
          </a:p>
        </p:txBody>
      </p:sp>
      <p:sp>
        <p:nvSpPr>
          <p:cNvPr id="12" name="Shape 10"/>
          <p:cNvSpPr/>
          <p:nvPr/>
        </p:nvSpPr>
        <p:spPr>
          <a:xfrm>
            <a:off x="6403956" y="1925813"/>
            <a:ext cx="4972088" cy="1183448"/>
          </a:xfrm>
          <a:prstGeom prst="roundRect">
            <a:avLst>
              <a:gd name="adj" fmla="val 8317"/>
            </a:avLst>
          </a:prstGeom>
          <a:solidFill>
            <a:srgbClr val="F8F9FB"/>
          </a:solidFill>
          <a:ln w="6350">
            <a:solidFill>
              <a:srgbClr val="D5DBE3"/>
            </a:solidFill>
            <a:prstDash val="solid"/>
          </a:ln>
        </p:spPr>
      </p:sp>
      <p:sp>
        <p:nvSpPr>
          <p:cNvPr id="13" name="Text 11"/>
          <p:cNvSpPr/>
          <p:nvPr/>
        </p:nvSpPr>
        <p:spPr>
          <a:xfrm>
            <a:off x="6633773" y="2117528"/>
            <a:ext cx="4647828" cy="29973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2430"/>
                </a:solidFill>
                <a:latin typeface="Instrument Sans" pitchFamily="34" charset="0"/>
                <a:ea typeface="Instrument Sans" pitchFamily="34" charset="-122"/>
                <a:cs typeface="Instrument Sans" pitchFamily="34" charset="-120"/>
              </a:rPr>
              <a:t>Stay responsive</a:t>
            </a:r>
            <a:endParaRPr lang="en-US" sz="1800" dirty="0"/>
          </a:p>
        </p:txBody>
      </p:sp>
      <p:sp>
        <p:nvSpPr>
          <p:cNvPr id="14" name="Text 12"/>
          <p:cNvSpPr/>
          <p:nvPr/>
        </p:nvSpPr>
        <p:spPr>
          <a:xfrm>
            <a:off x="6633773" y="2455354"/>
            <a:ext cx="4647828" cy="48759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6"/>
                </a:solidFill>
                <a:latin typeface="Instrument Sans" pitchFamily="34" charset="0"/>
                <a:ea typeface="Instrument Sans" pitchFamily="34" charset="-122"/>
                <a:cs typeface="Instrument Sans" pitchFamily="34" charset="-120"/>
              </a:rPr>
              <a:t>Speak within a few hundred milliseconds. No dead air, no false “done”.</a:t>
            </a:r>
            <a:endParaRPr lang="en-US" sz="1300" dirty="0"/>
          </a:p>
        </p:txBody>
      </p:sp>
      <p:sp>
        <p:nvSpPr>
          <p:cNvPr id="15" name="Shape 13"/>
          <p:cNvSpPr/>
          <p:nvPr/>
        </p:nvSpPr>
        <p:spPr>
          <a:xfrm>
            <a:off x="6403956" y="3242598"/>
            <a:ext cx="4972088" cy="1183448"/>
          </a:xfrm>
          <a:prstGeom prst="roundRect">
            <a:avLst>
              <a:gd name="adj" fmla="val 8317"/>
            </a:avLst>
          </a:prstGeom>
          <a:solidFill>
            <a:srgbClr val="F8F9FB"/>
          </a:solidFill>
          <a:ln w="6350">
            <a:solidFill>
              <a:srgbClr val="D5DBE3"/>
            </a:solidFill>
            <a:prstDash val="solid"/>
          </a:ln>
        </p:spPr>
      </p:sp>
      <p:sp>
        <p:nvSpPr>
          <p:cNvPr id="16" name="Text 14"/>
          <p:cNvSpPr/>
          <p:nvPr/>
        </p:nvSpPr>
        <p:spPr>
          <a:xfrm>
            <a:off x="6633773" y="3434312"/>
            <a:ext cx="4647828" cy="29973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2430"/>
                </a:solidFill>
                <a:latin typeface="Instrument Sans" pitchFamily="34" charset="0"/>
                <a:ea typeface="Instrument Sans" pitchFamily="34" charset="-122"/>
                <a:cs typeface="Instrument Sans" pitchFamily="34" charset="-120"/>
              </a:rPr>
              <a:t>Work asynchronously</a:t>
            </a:r>
            <a:endParaRPr lang="en-US" sz="1800" dirty="0"/>
          </a:p>
        </p:txBody>
      </p:sp>
      <p:sp>
        <p:nvSpPr>
          <p:cNvPr id="17" name="Text 15"/>
          <p:cNvSpPr/>
          <p:nvPr/>
        </p:nvSpPr>
        <p:spPr>
          <a:xfrm>
            <a:off x="6633773" y="3772138"/>
            <a:ext cx="4647828" cy="48759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6"/>
                </a:solidFill>
                <a:latin typeface="Instrument Sans" pitchFamily="34" charset="0"/>
                <a:ea typeface="Instrument Sans" pitchFamily="34" charset="-122"/>
                <a:cs typeface="Instrument Sans" pitchFamily="34" charset="-120"/>
              </a:rPr>
              <a:t>Tools and reasoning run in the background without blocking the conversation.</a:t>
            </a:r>
            <a:endParaRPr lang="en-US" sz="1300" dirty="0"/>
          </a:p>
        </p:txBody>
      </p:sp>
      <p:sp>
        <p:nvSpPr>
          <p:cNvPr id="18" name="Shape 16"/>
          <p:cNvSpPr/>
          <p:nvPr/>
        </p:nvSpPr>
        <p:spPr>
          <a:xfrm>
            <a:off x="6403956" y="4559382"/>
            <a:ext cx="4972088" cy="1183448"/>
          </a:xfrm>
          <a:prstGeom prst="roundRect">
            <a:avLst>
              <a:gd name="adj" fmla="val 8317"/>
            </a:avLst>
          </a:prstGeom>
          <a:solidFill>
            <a:srgbClr val="F8F9FB"/>
          </a:solidFill>
          <a:ln w="6350">
            <a:solidFill>
              <a:srgbClr val="D5DBE3"/>
            </a:solidFill>
            <a:prstDash val="solid"/>
          </a:ln>
        </p:spPr>
      </p:sp>
      <p:sp>
        <p:nvSpPr>
          <p:cNvPr id="19" name="Text 17"/>
          <p:cNvSpPr/>
          <p:nvPr/>
        </p:nvSpPr>
        <p:spPr>
          <a:xfrm>
            <a:off x="6633773" y="4751097"/>
            <a:ext cx="4647828" cy="29973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2430"/>
                </a:solidFill>
                <a:latin typeface="Instrument Sans" pitchFamily="34" charset="0"/>
                <a:ea typeface="Instrument Sans" pitchFamily="34" charset="-122"/>
                <a:cs typeface="Instrument Sans" pitchFamily="34" charset="-120"/>
              </a:rPr>
              <a:t>Recover cleanly</a:t>
            </a:r>
            <a:endParaRPr lang="en-US" sz="1800" dirty="0"/>
          </a:p>
        </p:txBody>
      </p:sp>
      <p:sp>
        <p:nvSpPr>
          <p:cNvPr id="20" name="Text 18"/>
          <p:cNvSpPr/>
          <p:nvPr/>
        </p:nvSpPr>
        <p:spPr>
          <a:xfrm>
            <a:off x="6633773" y="5088923"/>
            <a:ext cx="4647828" cy="48759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6"/>
                </a:solidFill>
                <a:latin typeface="Instrument Sans" pitchFamily="34" charset="0"/>
                <a:ea typeface="Instrument Sans" pitchFamily="34" charset="-122"/>
                <a:cs typeface="Instrument Sans" pitchFamily="34" charset="-120"/>
              </a:rPr>
              <a:t>Drop stale intent, update arguments, and never repeat a state-changing action.</a:t>
            </a:r>
            <a:endParaRPr lang="en-US" sz="1300" dirty="0"/>
          </a:p>
        </p:txBody>
      </p:sp>
      <p:sp>
        <p:nvSpPr>
          <p:cNvPr id="21" name="Text 19"/>
          <p:cNvSpPr/>
          <p:nvPr/>
        </p:nvSpPr>
        <p:spPr>
          <a:xfrm>
            <a:off x="8763019" y="6238240"/>
            <a:ext cx="2616200" cy="2387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6"/>
                </a:solidFill>
                <a:latin typeface="Instrument Sans" pitchFamily="34" charset="0"/>
                <a:ea typeface="Instrument Sans" pitchFamily="34" charset="-122"/>
                <a:cs typeface="Instrument Sans" pitchFamily="34" charset="-120"/>
              </a:rPr>
              <a:t>2 / 8</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1F4"/>
        </a:solidFill>
      </p:bgPr>
    </p:bg>
    <p:spTree>
      <p:nvGrpSpPr>
        <p:cNvPr id="1" name=""/>
        <p:cNvGrpSpPr/>
        <p:nvPr/>
      </p:nvGrpSpPr>
      <p:grpSpPr>
        <a:xfrm>
          <a:off x="0" y="0"/>
          <a:ext cx="0" cy="0"/>
          <a:chOff x="0" y="0"/>
          <a:chExt cx="0" cy="0"/>
        </a:xfrm>
      </p:grpSpPr>
      <p:sp>
        <p:nvSpPr>
          <p:cNvPr id="2" name="Text 0"/>
          <p:cNvSpPr/>
          <p:nvPr>
            <p:ph type="title"/>
          </p:nvPr>
        </p:nvSpPr>
        <p:spPr>
          <a:xfrm>
            <a:off x="812767" y="812767"/>
            <a:ext cx="10883445" cy="472401"/>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C2430"/>
                </a:solidFill>
                <a:latin typeface="Instrument Sans" pitchFamily="34" charset="0"/>
                <a:ea typeface="Instrument Sans" pitchFamily="34" charset="-122"/>
                <a:cs typeface="Instrument Sans" pitchFamily="34" charset="-120"/>
              </a:rPr>
              <a:t>Three layers on one clock</a:t>
            </a:r>
            <a:endParaRPr lang="en-US" sz="3200" dirty="0"/>
          </a:p>
        </p:txBody>
      </p:sp>
      <p:sp>
        <p:nvSpPr>
          <p:cNvPr id="3" name="Shape 1"/>
          <p:cNvSpPr/>
          <p:nvPr/>
        </p:nvSpPr>
        <p:spPr>
          <a:xfrm>
            <a:off x="2492325" y="1516915"/>
            <a:ext cx="1962143" cy="882622"/>
          </a:xfrm>
          <a:prstGeom prst="roundRect">
            <a:avLst>
              <a:gd name="adj" fmla="val 8274"/>
            </a:avLst>
          </a:prstGeom>
          <a:solidFill>
            <a:srgbClr val="F8F9FB"/>
          </a:solidFill>
          <a:ln w="6350">
            <a:solidFill>
              <a:srgbClr val="CBD2DC"/>
            </a:solidFill>
            <a:prstDash val="solid"/>
          </a:ln>
        </p:spPr>
      </p:sp>
      <p:sp>
        <p:nvSpPr>
          <p:cNvPr id="4" name="Text 2"/>
          <p:cNvSpPr/>
          <p:nvPr/>
        </p:nvSpPr>
        <p:spPr>
          <a:xfrm>
            <a:off x="2620546" y="1632424"/>
            <a:ext cx="1756872"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2430"/>
                </a:solidFill>
                <a:latin typeface="Instrument Sans" pitchFamily="34" charset="0"/>
                <a:ea typeface="Instrument Sans" pitchFamily="34" charset="-122"/>
                <a:cs typeface="Instrument Sans" pitchFamily="34" charset="-120"/>
              </a:rPr>
              <a:t>Room audio</a:t>
            </a:r>
            <a:endParaRPr lang="en-US" sz="1400" dirty="0"/>
          </a:p>
        </p:txBody>
      </p:sp>
      <p:sp>
        <p:nvSpPr>
          <p:cNvPr id="5" name="Text 3"/>
          <p:cNvSpPr/>
          <p:nvPr/>
        </p:nvSpPr>
        <p:spPr>
          <a:xfrm>
            <a:off x="2620546" y="1871170"/>
            <a:ext cx="1756872" cy="43688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6"/>
                </a:solidFill>
                <a:latin typeface="Instrument Sans" pitchFamily="34" charset="0"/>
                <a:ea typeface="Instrument Sans" pitchFamily="34" charset="-122"/>
                <a:cs typeface="Instrument Sans" pitchFamily="34" charset="-120"/>
              </a:rPr>
              <a:t>mic or benchmark WAV via LiveKit</a:t>
            </a:r>
            <a:endParaRPr lang="en-US" sz="1200" dirty="0"/>
          </a:p>
        </p:txBody>
      </p:sp>
      <p:sp>
        <p:nvSpPr>
          <p:cNvPr id="6" name="Shape 4"/>
          <p:cNvSpPr/>
          <p:nvPr/>
        </p:nvSpPr>
        <p:spPr>
          <a:xfrm>
            <a:off x="4714825" y="1516915"/>
            <a:ext cx="1962143" cy="882622"/>
          </a:xfrm>
          <a:prstGeom prst="roundRect">
            <a:avLst>
              <a:gd name="adj" fmla="val 8274"/>
            </a:avLst>
          </a:prstGeom>
          <a:solidFill>
            <a:srgbClr val="F8F9FB"/>
          </a:solidFill>
          <a:ln w="6350">
            <a:solidFill>
              <a:srgbClr val="CBD2DC"/>
            </a:solidFill>
            <a:prstDash val="solid"/>
          </a:ln>
        </p:spPr>
      </p:sp>
      <p:sp>
        <p:nvSpPr>
          <p:cNvPr id="7" name="Text 5"/>
          <p:cNvSpPr/>
          <p:nvPr/>
        </p:nvSpPr>
        <p:spPr>
          <a:xfrm>
            <a:off x="4843046" y="1632424"/>
            <a:ext cx="1756872"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2430"/>
                </a:solidFill>
                <a:latin typeface="Instrument Sans" pitchFamily="34" charset="0"/>
                <a:ea typeface="Instrument Sans" pitchFamily="34" charset="-122"/>
                <a:cs typeface="Instrument Sans" pitchFamily="34" charset="-120"/>
              </a:rPr>
              <a:t>Speech to text</a:t>
            </a:r>
            <a:endParaRPr lang="en-US" sz="1400" dirty="0"/>
          </a:p>
        </p:txBody>
      </p:sp>
      <p:sp>
        <p:nvSpPr>
          <p:cNvPr id="8" name="Text 6"/>
          <p:cNvSpPr/>
          <p:nvPr/>
        </p:nvSpPr>
        <p:spPr>
          <a:xfrm>
            <a:off x="4843046" y="1871170"/>
            <a:ext cx="1756872" cy="43688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6"/>
                </a:solidFill>
                <a:latin typeface="Instrument Sans" pitchFamily="34" charset="0"/>
                <a:ea typeface="Instrument Sans" pitchFamily="34" charset="-122"/>
                <a:cs typeface="Instrument Sans" pitchFamily="34" charset="-120"/>
              </a:rPr>
              <a:t>Silero VAD, then Parakeet-TDT</a:t>
            </a:r>
            <a:endParaRPr lang="en-US" sz="1200" dirty="0"/>
          </a:p>
        </p:txBody>
      </p:sp>
      <p:sp>
        <p:nvSpPr>
          <p:cNvPr id="9" name="Shape 7"/>
          <p:cNvSpPr/>
          <p:nvPr/>
        </p:nvSpPr>
        <p:spPr>
          <a:xfrm>
            <a:off x="6937325" y="1516915"/>
            <a:ext cx="1962143" cy="882622"/>
          </a:xfrm>
          <a:prstGeom prst="roundRect">
            <a:avLst>
              <a:gd name="adj" fmla="val 8274"/>
            </a:avLst>
          </a:prstGeom>
          <a:solidFill>
            <a:srgbClr val="F8F9FB"/>
          </a:solidFill>
          <a:ln w="6350">
            <a:solidFill>
              <a:srgbClr val="CBD2DC"/>
            </a:solidFill>
            <a:prstDash val="solid"/>
          </a:ln>
        </p:spPr>
      </p:sp>
      <p:sp>
        <p:nvSpPr>
          <p:cNvPr id="10" name="Text 8"/>
          <p:cNvSpPr/>
          <p:nvPr/>
        </p:nvSpPr>
        <p:spPr>
          <a:xfrm>
            <a:off x="7065546" y="1632424"/>
            <a:ext cx="1756872"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2430"/>
                </a:solidFill>
                <a:latin typeface="Instrument Sans" pitchFamily="34" charset="0"/>
                <a:ea typeface="Instrument Sans" pitchFamily="34" charset="-122"/>
                <a:cs typeface="Instrument Sans" pitchFamily="34" charset="-120"/>
              </a:rPr>
              <a:t>Acknowledge</a:t>
            </a:r>
            <a:endParaRPr lang="en-US" sz="1400" dirty="0"/>
          </a:p>
        </p:txBody>
      </p:sp>
      <p:sp>
        <p:nvSpPr>
          <p:cNvPr id="11" name="Text 9"/>
          <p:cNvSpPr/>
          <p:nvPr/>
        </p:nvSpPr>
        <p:spPr>
          <a:xfrm>
            <a:off x="7065546" y="1871170"/>
            <a:ext cx="1756872" cy="43688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6"/>
                </a:solidFill>
                <a:latin typeface="Instrument Sans" pitchFamily="34" charset="0"/>
                <a:ea typeface="Instrument Sans" pitchFamily="34" charset="-122"/>
                <a:cs typeface="Instrument Sans" pitchFamily="34" charset="-120"/>
              </a:rPr>
              <a:t>“One moment.” if planning is slow</a:t>
            </a:r>
            <a:endParaRPr lang="en-US" sz="1200" dirty="0"/>
          </a:p>
        </p:txBody>
      </p:sp>
      <p:sp>
        <p:nvSpPr>
          <p:cNvPr id="12" name="Shape 10"/>
          <p:cNvSpPr/>
          <p:nvPr/>
        </p:nvSpPr>
        <p:spPr>
          <a:xfrm>
            <a:off x="4714825" y="2977395"/>
            <a:ext cx="1962143" cy="882622"/>
          </a:xfrm>
          <a:prstGeom prst="roundRect">
            <a:avLst>
              <a:gd name="adj" fmla="val 8274"/>
            </a:avLst>
          </a:prstGeom>
          <a:solidFill>
            <a:srgbClr val="FBF1DC"/>
          </a:solidFill>
          <a:ln w="6350">
            <a:solidFill>
              <a:srgbClr val="E2C27F"/>
            </a:solidFill>
            <a:prstDash val="solid"/>
          </a:ln>
        </p:spPr>
      </p:sp>
      <p:sp>
        <p:nvSpPr>
          <p:cNvPr id="13" name="Text 11"/>
          <p:cNvSpPr/>
          <p:nvPr/>
        </p:nvSpPr>
        <p:spPr>
          <a:xfrm>
            <a:off x="4843046" y="3092903"/>
            <a:ext cx="1756872"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2430"/>
                </a:solidFill>
                <a:latin typeface="Instrument Sans" pitchFamily="34" charset="0"/>
                <a:ea typeface="Instrument Sans" pitchFamily="34" charset="-122"/>
                <a:cs typeface="Instrument Sans" pitchFamily="34" charset="-120"/>
              </a:rPr>
              <a:t>Intent resolver</a:t>
            </a:r>
            <a:endParaRPr lang="en-US" sz="1400" dirty="0"/>
          </a:p>
        </p:txBody>
      </p:sp>
      <p:sp>
        <p:nvSpPr>
          <p:cNvPr id="14" name="Text 12"/>
          <p:cNvSpPr/>
          <p:nvPr/>
        </p:nvSpPr>
        <p:spPr>
          <a:xfrm>
            <a:off x="4843046" y="3331648"/>
            <a:ext cx="1756872" cy="43688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6"/>
                </a:solidFill>
                <a:latin typeface="Instrument Sans" pitchFamily="34" charset="0"/>
                <a:ea typeface="Instrument Sans" pitchFamily="34" charset="-122"/>
                <a:cs typeface="Instrument Sans" pitchFamily="34" charset="-120"/>
              </a:rPr>
              <a:t>Qwen3 plan; the last value wins</a:t>
            </a:r>
            <a:endParaRPr lang="en-US" sz="1200" dirty="0"/>
          </a:p>
        </p:txBody>
      </p:sp>
      <p:sp>
        <p:nvSpPr>
          <p:cNvPr id="15" name="Shape 13"/>
          <p:cNvSpPr/>
          <p:nvPr/>
        </p:nvSpPr>
        <p:spPr>
          <a:xfrm>
            <a:off x="6937325" y="2977395"/>
            <a:ext cx="1962143" cy="882622"/>
          </a:xfrm>
          <a:prstGeom prst="roundRect">
            <a:avLst>
              <a:gd name="adj" fmla="val 8274"/>
            </a:avLst>
          </a:prstGeom>
          <a:solidFill>
            <a:srgbClr val="FBF1DC"/>
          </a:solidFill>
          <a:ln w="6350">
            <a:solidFill>
              <a:srgbClr val="E2C27F"/>
            </a:solidFill>
            <a:prstDash val="solid"/>
          </a:ln>
        </p:spPr>
      </p:sp>
      <p:sp>
        <p:nvSpPr>
          <p:cNvPr id="16" name="Text 14"/>
          <p:cNvSpPr/>
          <p:nvPr/>
        </p:nvSpPr>
        <p:spPr>
          <a:xfrm>
            <a:off x="7065546" y="3092903"/>
            <a:ext cx="1756872"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2430"/>
                </a:solidFill>
                <a:latin typeface="Instrument Sans" pitchFamily="34" charset="0"/>
                <a:ea typeface="Instrument Sans" pitchFamily="34" charset="-122"/>
                <a:cs typeface="Instrument Sans" pitchFamily="34" charset="-120"/>
              </a:rPr>
              <a:t>Commit gate</a:t>
            </a:r>
            <a:endParaRPr lang="en-US" sz="1400" dirty="0"/>
          </a:p>
        </p:txBody>
      </p:sp>
      <p:sp>
        <p:nvSpPr>
          <p:cNvPr id="17" name="Text 15"/>
          <p:cNvSpPr/>
          <p:nvPr/>
        </p:nvSpPr>
        <p:spPr>
          <a:xfrm>
            <a:off x="7065546" y="3331648"/>
            <a:ext cx="1756872" cy="43688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6"/>
                </a:solidFill>
                <a:latin typeface="Instrument Sans" pitchFamily="34" charset="0"/>
                <a:ea typeface="Instrument Sans" pitchFamily="34" charset="-122"/>
                <a:cs typeface="Instrument Sans" pitchFamily="34" charset="-120"/>
              </a:rPr>
              <a:t>waits 350–700 ms for more words</a:t>
            </a:r>
            <a:endParaRPr lang="en-US" sz="1200" dirty="0"/>
          </a:p>
        </p:txBody>
      </p:sp>
      <p:sp>
        <p:nvSpPr>
          <p:cNvPr id="18" name="Shape 16"/>
          <p:cNvSpPr/>
          <p:nvPr/>
        </p:nvSpPr>
        <p:spPr>
          <a:xfrm>
            <a:off x="9159825" y="2977395"/>
            <a:ext cx="1962143" cy="882622"/>
          </a:xfrm>
          <a:prstGeom prst="roundRect">
            <a:avLst>
              <a:gd name="adj" fmla="val 8274"/>
            </a:avLst>
          </a:prstGeom>
          <a:solidFill>
            <a:srgbClr val="FBF1DC"/>
          </a:solidFill>
          <a:ln w="6350">
            <a:solidFill>
              <a:srgbClr val="E2C27F"/>
            </a:solidFill>
            <a:prstDash val="solid"/>
          </a:ln>
        </p:spPr>
      </p:sp>
      <p:sp>
        <p:nvSpPr>
          <p:cNvPr id="19" name="Text 17"/>
          <p:cNvSpPr/>
          <p:nvPr/>
        </p:nvSpPr>
        <p:spPr>
          <a:xfrm>
            <a:off x="9288046" y="3092903"/>
            <a:ext cx="1756872"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2430"/>
                </a:solidFill>
                <a:latin typeface="Instrument Sans" pitchFamily="34" charset="0"/>
                <a:ea typeface="Instrument Sans" pitchFamily="34" charset="-122"/>
                <a:cs typeface="Instrument Sans" pitchFamily="34" charset="-120"/>
              </a:rPr>
              <a:t>Ledger</a:t>
            </a:r>
            <a:endParaRPr lang="en-US" sz="1400" dirty="0"/>
          </a:p>
        </p:txBody>
      </p:sp>
      <p:sp>
        <p:nvSpPr>
          <p:cNvPr id="20" name="Text 18"/>
          <p:cNvSpPr/>
          <p:nvPr/>
        </p:nvSpPr>
        <p:spPr>
          <a:xfrm>
            <a:off x="9288046" y="3331648"/>
            <a:ext cx="1830747" cy="2311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6"/>
                </a:solidFill>
                <a:latin typeface="Instrument Sans" pitchFamily="34" charset="0"/>
                <a:ea typeface="Instrument Sans" pitchFamily="34" charset="-122"/>
                <a:cs typeface="Instrument Sans" pitchFamily="34" charset="-120"/>
              </a:rPr>
              <a:t>blocks an identical write</a:t>
            </a:r>
            <a:endParaRPr lang="en-US" sz="1200" dirty="0"/>
          </a:p>
        </p:txBody>
      </p:sp>
      <p:sp>
        <p:nvSpPr>
          <p:cNvPr id="21" name="Shape 19"/>
          <p:cNvSpPr/>
          <p:nvPr/>
        </p:nvSpPr>
        <p:spPr>
          <a:xfrm>
            <a:off x="9159825" y="4437909"/>
            <a:ext cx="1962143" cy="882622"/>
          </a:xfrm>
          <a:prstGeom prst="roundRect">
            <a:avLst>
              <a:gd name="adj" fmla="val 8274"/>
            </a:avLst>
          </a:prstGeom>
          <a:solidFill>
            <a:srgbClr val="E6ECFC"/>
          </a:solidFill>
          <a:ln w="6350">
            <a:solidFill>
              <a:srgbClr val="B4C5F5"/>
            </a:solidFill>
            <a:prstDash val="solid"/>
          </a:ln>
        </p:spPr>
      </p:sp>
      <p:sp>
        <p:nvSpPr>
          <p:cNvPr id="22" name="Text 20"/>
          <p:cNvSpPr/>
          <p:nvPr/>
        </p:nvSpPr>
        <p:spPr>
          <a:xfrm>
            <a:off x="9288046" y="4553417"/>
            <a:ext cx="1756872"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2430"/>
                </a:solidFill>
                <a:latin typeface="Instrument Sans" pitchFamily="34" charset="0"/>
                <a:ea typeface="Instrument Sans" pitchFamily="34" charset="-122"/>
                <a:cs typeface="Instrument Sans" pitchFamily="34" charset="-120"/>
              </a:rPr>
              <a:t>Executor</a:t>
            </a:r>
            <a:endParaRPr lang="en-US" sz="1400" dirty="0"/>
          </a:p>
        </p:txBody>
      </p:sp>
      <p:sp>
        <p:nvSpPr>
          <p:cNvPr id="23" name="Text 21"/>
          <p:cNvSpPr/>
          <p:nvPr/>
        </p:nvSpPr>
        <p:spPr>
          <a:xfrm>
            <a:off x="9288046" y="4792162"/>
            <a:ext cx="1756872" cy="43688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6"/>
                </a:solidFill>
                <a:latin typeface="Instrument Sans" pitchFamily="34" charset="0"/>
                <a:ea typeface="Instrument Sans" pitchFamily="34" charset="-122"/>
                <a:cs typeface="Instrument Sans" pitchFamily="34" charset="-120"/>
              </a:rPr>
              <a:t>async calls; stale reads cancelled</a:t>
            </a:r>
            <a:endParaRPr lang="en-US" sz="1200" dirty="0"/>
          </a:p>
        </p:txBody>
      </p:sp>
      <p:sp>
        <p:nvSpPr>
          <p:cNvPr id="24" name="Shape 22"/>
          <p:cNvSpPr/>
          <p:nvPr/>
        </p:nvSpPr>
        <p:spPr>
          <a:xfrm>
            <a:off x="6937325" y="4437909"/>
            <a:ext cx="1962143" cy="882622"/>
          </a:xfrm>
          <a:prstGeom prst="roundRect">
            <a:avLst>
              <a:gd name="adj" fmla="val 8274"/>
            </a:avLst>
          </a:prstGeom>
          <a:solidFill>
            <a:srgbClr val="E6ECFC"/>
          </a:solidFill>
          <a:ln w="6350">
            <a:solidFill>
              <a:srgbClr val="B4C5F5"/>
            </a:solidFill>
            <a:prstDash val="solid"/>
          </a:ln>
        </p:spPr>
      </p:sp>
      <p:sp>
        <p:nvSpPr>
          <p:cNvPr id="25" name="Text 23"/>
          <p:cNvSpPr/>
          <p:nvPr/>
        </p:nvSpPr>
        <p:spPr>
          <a:xfrm>
            <a:off x="7065546" y="4553417"/>
            <a:ext cx="1756872"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2430"/>
                </a:solidFill>
                <a:latin typeface="Instrument Sans" pitchFamily="34" charset="0"/>
                <a:ea typeface="Instrument Sans" pitchFamily="34" charset="-122"/>
                <a:cs typeface="Instrument Sans" pitchFamily="34" charset="-120"/>
              </a:rPr>
              <a:t>Tools</a:t>
            </a:r>
            <a:endParaRPr lang="en-US" sz="1400" dirty="0"/>
          </a:p>
        </p:txBody>
      </p:sp>
      <p:sp>
        <p:nvSpPr>
          <p:cNvPr id="26" name="Text 24"/>
          <p:cNvSpPr/>
          <p:nvPr/>
        </p:nvSpPr>
        <p:spPr>
          <a:xfrm>
            <a:off x="7065546" y="4792162"/>
            <a:ext cx="1756872" cy="43688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6"/>
                </a:solidFill>
                <a:latin typeface="Instrument Sans" pitchFamily="34" charset="0"/>
                <a:ea typeface="Instrument Sans" pitchFamily="34" charset="-122"/>
                <a:cs typeface="Instrument Sans" pitchFamily="34" charset="-120"/>
              </a:rPr>
              <a:t>FDB-v3 mocks or the car backend</a:t>
            </a:r>
            <a:endParaRPr lang="en-US" sz="1200" dirty="0"/>
          </a:p>
        </p:txBody>
      </p:sp>
      <p:sp>
        <p:nvSpPr>
          <p:cNvPr id="27" name="Shape 25"/>
          <p:cNvSpPr/>
          <p:nvPr/>
        </p:nvSpPr>
        <p:spPr>
          <a:xfrm>
            <a:off x="4714825" y="4437909"/>
            <a:ext cx="1962143" cy="882622"/>
          </a:xfrm>
          <a:prstGeom prst="roundRect">
            <a:avLst>
              <a:gd name="adj" fmla="val 8274"/>
            </a:avLst>
          </a:prstGeom>
          <a:solidFill>
            <a:srgbClr val="E6ECFC"/>
          </a:solidFill>
          <a:ln w="6350">
            <a:solidFill>
              <a:srgbClr val="B4C5F5"/>
            </a:solidFill>
            <a:prstDash val="solid"/>
          </a:ln>
        </p:spPr>
      </p:sp>
      <p:sp>
        <p:nvSpPr>
          <p:cNvPr id="28" name="Text 26"/>
          <p:cNvSpPr/>
          <p:nvPr/>
        </p:nvSpPr>
        <p:spPr>
          <a:xfrm>
            <a:off x="4843046" y="4553417"/>
            <a:ext cx="1756872"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2430"/>
                </a:solidFill>
                <a:latin typeface="Instrument Sans" pitchFamily="34" charset="0"/>
                <a:ea typeface="Instrument Sans" pitchFamily="34" charset="-122"/>
                <a:cs typeface="Instrument Sans" pitchFamily="34" charset="-120"/>
              </a:rPr>
              <a:t>Responder</a:t>
            </a:r>
            <a:endParaRPr lang="en-US" sz="1400" dirty="0"/>
          </a:p>
        </p:txBody>
      </p:sp>
      <p:sp>
        <p:nvSpPr>
          <p:cNvPr id="29" name="Text 27"/>
          <p:cNvSpPr/>
          <p:nvPr/>
        </p:nvSpPr>
        <p:spPr>
          <a:xfrm>
            <a:off x="4843046" y="4792162"/>
            <a:ext cx="1756872" cy="43688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6"/>
                </a:solidFill>
                <a:latin typeface="Instrument Sans" pitchFamily="34" charset="0"/>
                <a:ea typeface="Instrument Sans" pitchFamily="34" charset="-122"/>
                <a:cs typeface="Instrument Sans" pitchFamily="34" charset="-120"/>
              </a:rPr>
              <a:t>a reply grounded in results</a:t>
            </a:r>
            <a:endParaRPr lang="en-US" sz="1200" dirty="0"/>
          </a:p>
        </p:txBody>
      </p:sp>
      <p:sp>
        <p:nvSpPr>
          <p:cNvPr id="30" name="Shape 28"/>
          <p:cNvSpPr/>
          <p:nvPr/>
        </p:nvSpPr>
        <p:spPr>
          <a:xfrm>
            <a:off x="2492325" y="4437909"/>
            <a:ext cx="1962143" cy="882622"/>
          </a:xfrm>
          <a:prstGeom prst="roundRect">
            <a:avLst>
              <a:gd name="adj" fmla="val 8274"/>
            </a:avLst>
          </a:prstGeom>
          <a:solidFill>
            <a:srgbClr val="E6ECFC"/>
          </a:solidFill>
          <a:ln w="6350">
            <a:solidFill>
              <a:srgbClr val="B4C5F5"/>
            </a:solidFill>
            <a:prstDash val="solid"/>
          </a:ln>
        </p:spPr>
      </p:sp>
      <p:sp>
        <p:nvSpPr>
          <p:cNvPr id="31" name="Text 29"/>
          <p:cNvSpPr/>
          <p:nvPr/>
        </p:nvSpPr>
        <p:spPr>
          <a:xfrm>
            <a:off x="2620546" y="4553417"/>
            <a:ext cx="1756872"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2430"/>
                </a:solidFill>
                <a:latin typeface="Instrument Sans" pitchFamily="34" charset="0"/>
                <a:ea typeface="Instrument Sans" pitchFamily="34" charset="-122"/>
                <a:cs typeface="Instrument Sans" pitchFamily="34" charset="-120"/>
              </a:rPr>
              <a:t>Spoken reply</a:t>
            </a:r>
            <a:endParaRPr lang="en-US" sz="1400" dirty="0"/>
          </a:p>
        </p:txBody>
      </p:sp>
      <p:sp>
        <p:nvSpPr>
          <p:cNvPr id="32" name="Text 30"/>
          <p:cNvSpPr/>
          <p:nvPr/>
        </p:nvSpPr>
        <p:spPr>
          <a:xfrm>
            <a:off x="2620546" y="4792162"/>
            <a:ext cx="1756872" cy="43688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6"/>
                </a:solidFill>
                <a:latin typeface="Instrument Sans" pitchFamily="34" charset="0"/>
                <a:ea typeface="Instrument Sans" pitchFamily="34" charset="-122"/>
                <a:cs typeface="Instrument Sans" pitchFamily="34" charset="-120"/>
              </a:rPr>
              <a:t>Kokoro-82M voice into the room</a:t>
            </a:r>
            <a:endParaRPr lang="en-US" sz="1200" dirty="0"/>
          </a:p>
        </p:txBody>
      </p:sp>
      <p:pic>
        <p:nvPicPr>
          <p:cNvPr id="33" name="Image 0" descr="connector">    </p:cNvPr>
          <p:cNvPicPr>
            <a:picLocks noChangeAspect="1"/>
          </p:cNvPicPr>
          <p:nvPr/>
        </p:nvPicPr>
        <p:blipFill>
          <a:blip r:embed="rId1"/>
          <a:srcRect l="-16" r="-16" t="0" b="0"/>
          <a:stretch/>
        </p:blipFill>
        <p:spPr>
          <a:xfrm>
            <a:off x="4419541" y="1920125"/>
            <a:ext cx="330178" cy="76171"/>
          </a:xfrm>
          <a:prstGeom prst="rect">
            <a:avLst/>
          </a:prstGeom>
        </p:spPr>
      </p:pic>
      <p:pic>
        <p:nvPicPr>
          <p:cNvPr id="34" name="Image 1" descr="connector">    </p:cNvPr>
          <p:cNvPicPr>
            <a:picLocks noChangeAspect="1"/>
          </p:cNvPicPr>
          <p:nvPr/>
        </p:nvPicPr>
        <p:blipFill>
          <a:blip r:embed="rId2"/>
          <a:srcRect l="-16" r="-16" t="0" b="0"/>
          <a:stretch/>
        </p:blipFill>
        <p:spPr>
          <a:xfrm>
            <a:off x="6642040" y="1920125"/>
            <a:ext cx="330178" cy="76171"/>
          </a:xfrm>
          <a:prstGeom prst="rect">
            <a:avLst/>
          </a:prstGeom>
        </p:spPr>
      </p:pic>
      <p:pic>
        <p:nvPicPr>
          <p:cNvPr id="35" name="Image 2" descr="connector">    </p:cNvPr>
          <p:cNvPicPr>
            <a:picLocks noChangeAspect="1"/>
          </p:cNvPicPr>
          <p:nvPr/>
        </p:nvPicPr>
        <p:blipFill>
          <a:blip r:embed="rId3"/>
          <a:srcRect l="0" r="0" t="-17" b="-17"/>
          <a:stretch/>
        </p:blipFill>
        <p:spPr>
          <a:xfrm>
            <a:off x="5657811" y="2364611"/>
            <a:ext cx="76171" cy="647678"/>
          </a:xfrm>
          <a:prstGeom prst="rect">
            <a:avLst/>
          </a:prstGeom>
        </p:spPr>
      </p:pic>
      <p:pic>
        <p:nvPicPr>
          <p:cNvPr id="36" name="Image 3" descr="connector">    </p:cNvPr>
          <p:cNvPicPr>
            <a:picLocks noChangeAspect="1"/>
          </p:cNvPicPr>
          <p:nvPr/>
        </p:nvPicPr>
        <p:blipFill>
          <a:blip r:embed="rId4"/>
          <a:srcRect l="-16" r="-16" t="0" b="0"/>
          <a:stretch/>
        </p:blipFill>
        <p:spPr>
          <a:xfrm>
            <a:off x="6642040" y="3380637"/>
            <a:ext cx="330178" cy="76171"/>
          </a:xfrm>
          <a:prstGeom prst="rect">
            <a:avLst/>
          </a:prstGeom>
        </p:spPr>
      </p:pic>
      <p:pic>
        <p:nvPicPr>
          <p:cNvPr id="37" name="Image 4" descr="connector">    </p:cNvPr>
          <p:cNvPicPr>
            <a:picLocks noChangeAspect="1"/>
          </p:cNvPicPr>
          <p:nvPr/>
        </p:nvPicPr>
        <p:blipFill>
          <a:blip r:embed="rId5"/>
          <a:srcRect l="-16" r="-16" t="0" b="0"/>
          <a:stretch/>
        </p:blipFill>
        <p:spPr>
          <a:xfrm>
            <a:off x="8864540" y="3380637"/>
            <a:ext cx="330178" cy="76171"/>
          </a:xfrm>
          <a:prstGeom prst="rect">
            <a:avLst/>
          </a:prstGeom>
        </p:spPr>
      </p:pic>
      <p:pic>
        <p:nvPicPr>
          <p:cNvPr id="38" name="Image 5" descr="connector">    </p:cNvPr>
          <p:cNvPicPr>
            <a:picLocks noChangeAspect="1"/>
          </p:cNvPicPr>
          <p:nvPr/>
        </p:nvPicPr>
        <p:blipFill>
          <a:blip r:embed="rId6"/>
          <a:srcRect l="0" r="0" t="-17" b="-17"/>
          <a:stretch/>
        </p:blipFill>
        <p:spPr>
          <a:xfrm>
            <a:off x="10102811" y="3825123"/>
            <a:ext cx="76171" cy="647678"/>
          </a:xfrm>
          <a:prstGeom prst="rect">
            <a:avLst/>
          </a:prstGeom>
        </p:spPr>
      </p:pic>
      <p:pic>
        <p:nvPicPr>
          <p:cNvPr id="39" name="Image 6" descr="connector">    </p:cNvPr>
          <p:cNvPicPr>
            <a:picLocks noChangeAspect="1"/>
          </p:cNvPicPr>
          <p:nvPr/>
        </p:nvPicPr>
        <p:blipFill>
          <a:blip r:embed="rId7"/>
          <a:srcRect l="-16" r="-16" t="0" b="0"/>
          <a:stretch/>
        </p:blipFill>
        <p:spPr>
          <a:xfrm>
            <a:off x="8864540" y="4841117"/>
            <a:ext cx="330178" cy="76171"/>
          </a:xfrm>
          <a:prstGeom prst="rect">
            <a:avLst/>
          </a:prstGeom>
        </p:spPr>
      </p:pic>
      <p:pic>
        <p:nvPicPr>
          <p:cNvPr id="40" name="Image 7" descr="connector">    </p:cNvPr>
          <p:cNvPicPr>
            <a:picLocks noChangeAspect="1"/>
          </p:cNvPicPr>
          <p:nvPr/>
        </p:nvPicPr>
        <p:blipFill>
          <a:blip r:embed="rId8"/>
          <a:srcRect l="-16" r="-16" t="0" b="0"/>
          <a:stretch/>
        </p:blipFill>
        <p:spPr>
          <a:xfrm>
            <a:off x="6642040" y="4841117"/>
            <a:ext cx="330178" cy="76171"/>
          </a:xfrm>
          <a:prstGeom prst="rect">
            <a:avLst/>
          </a:prstGeom>
        </p:spPr>
      </p:pic>
      <p:pic>
        <p:nvPicPr>
          <p:cNvPr id="41" name="Image 8" descr="connector">    </p:cNvPr>
          <p:cNvPicPr>
            <a:picLocks noChangeAspect="1"/>
          </p:cNvPicPr>
          <p:nvPr/>
        </p:nvPicPr>
        <p:blipFill>
          <a:blip r:embed="rId9"/>
          <a:srcRect l="-16" r="-16" t="0" b="0"/>
          <a:stretch/>
        </p:blipFill>
        <p:spPr>
          <a:xfrm>
            <a:off x="4419541" y="4841117"/>
            <a:ext cx="330178" cy="76171"/>
          </a:xfrm>
          <a:prstGeom prst="rect">
            <a:avLst/>
          </a:prstGeom>
        </p:spPr>
      </p:pic>
      <p:pic>
        <p:nvPicPr>
          <p:cNvPr id="42" name="Image 9" descr="connector">    </p:cNvPr>
          <p:cNvPicPr>
            <a:picLocks noChangeAspect="1"/>
          </p:cNvPicPr>
          <p:nvPr/>
        </p:nvPicPr>
        <p:blipFill>
          <a:blip r:embed="rId10"/>
          <a:srcRect l="0" r="0" t="-19" b="-19"/>
          <a:stretch/>
        </p:blipFill>
        <p:spPr>
          <a:xfrm>
            <a:off x="3435311" y="2364611"/>
            <a:ext cx="76171" cy="2108192"/>
          </a:xfrm>
          <a:prstGeom prst="rect">
            <a:avLst/>
          </a:prstGeom>
        </p:spPr>
      </p:pic>
      <p:sp>
        <p:nvSpPr>
          <p:cNvPr id="43" name="Text 31"/>
          <p:cNvSpPr/>
          <p:nvPr/>
        </p:nvSpPr>
        <p:spPr>
          <a:xfrm>
            <a:off x="812767" y="1742323"/>
            <a:ext cx="1511279" cy="471126"/>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C2430"/>
                </a:solidFill>
                <a:latin typeface="Instrument Sans" pitchFamily="34" charset="0"/>
                <a:ea typeface="Instrument Sans" pitchFamily="34" charset="-122"/>
                <a:cs typeface="Instrument Sans" pitchFamily="34" charset="-120"/>
              </a:rPr>
              <a:t>Fast path</a:t>
            </a:r>
            <a:endParaRPr lang="en-US" sz="1300" dirty="0"/>
          </a:p>
          <a:p>
            <a:pPr algn="l" indent="0" marL="0">
              <a:lnSpc>
                <a:spcPts val="1755"/>
              </a:lnSpc>
              <a:buNone/>
            </a:pPr>
            <a:r>
              <a:rPr lang="en-US" sz="1300" dirty="0">
                <a:solidFill>
                  <a:srgbClr val="4A5566"/>
                </a:solidFill>
                <a:latin typeface="Instrument Sans" pitchFamily="34" charset="0"/>
                <a:ea typeface="Instrument Sans" pitchFamily="34" charset="-122"/>
                <a:cs typeface="Instrument Sans" pitchFamily="34" charset="-120"/>
              </a:rPr>
              <a:t>keeps the floor</a:t>
            </a:r>
            <a:endParaRPr lang="en-US" sz="1300" dirty="0"/>
          </a:p>
        </p:txBody>
      </p:sp>
      <p:sp>
        <p:nvSpPr>
          <p:cNvPr id="44" name="Text 32"/>
          <p:cNvSpPr/>
          <p:nvPr/>
        </p:nvSpPr>
        <p:spPr>
          <a:xfrm>
            <a:off x="812767" y="3202836"/>
            <a:ext cx="1511279" cy="69399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8A5A12"/>
                </a:solidFill>
                <a:latin typeface="Instrument Sans" pitchFamily="34" charset="0"/>
                <a:ea typeface="Instrument Sans" pitchFamily="34" charset="-122"/>
                <a:cs typeface="Instrument Sans" pitchFamily="34" charset="-120"/>
              </a:rPr>
              <a:t>Coordinator</a:t>
            </a:r>
            <a:endParaRPr lang="en-US" sz="1300" dirty="0"/>
          </a:p>
          <a:p>
            <a:pPr algn="l" indent="0" marL="0">
              <a:lnSpc>
                <a:spcPts val="1755"/>
              </a:lnSpc>
              <a:buNone/>
            </a:pPr>
            <a:r>
              <a:rPr lang="en-US" sz="1300" dirty="0">
                <a:solidFill>
                  <a:srgbClr val="4A5566"/>
                </a:solidFill>
                <a:latin typeface="Instrument Sans" pitchFamily="34" charset="0"/>
                <a:ea typeface="Instrument Sans" pitchFamily="34" charset="-122"/>
                <a:cs typeface="Instrument Sans" pitchFamily="34" charset="-120"/>
              </a:rPr>
              <a:t>decides when to act</a:t>
            </a:r>
            <a:endParaRPr lang="en-US" sz="1300" dirty="0"/>
          </a:p>
        </p:txBody>
      </p:sp>
      <p:sp>
        <p:nvSpPr>
          <p:cNvPr id="45" name="Text 33"/>
          <p:cNvSpPr/>
          <p:nvPr/>
        </p:nvSpPr>
        <p:spPr>
          <a:xfrm>
            <a:off x="812767" y="4663315"/>
            <a:ext cx="1511279" cy="471126"/>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2F5BEA"/>
                </a:solidFill>
                <a:latin typeface="Instrument Sans" pitchFamily="34" charset="0"/>
                <a:ea typeface="Instrument Sans" pitchFamily="34" charset="-122"/>
                <a:cs typeface="Instrument Sans" pitchFamily="34" charset="-120"/>
              </a:rPr>
              <a:t>Slow path</a:t>
            </a:r>
            <a:endParaRPr lang="en-US" sz="1300" dirty="0"/>
          </a:p>
          <a:p>
            <a:pPr algn="l" indent="0" marL="0">
              <a:lnSpc>
                <a:spcPts val="1755"/>
              </a:lnSpc>
              <a:buNone/>
            </a:pPr>
            <a:r>
              <a:rPr lang="en-US" sz="1300" dirty="0">
                <a:solidFill>
                  <a:srgbClr val="4A5566"/>
                </a:solidFill>
                <a:latin typeface="Instrument Sans" pitchFamily="34" charset="0"/>
                <a:ea typeface="Instrument Sans" pitchFamily="34" charset="-122"/>
                <a:cs typeface="Instrument Sans" pitchFamily="34" charset="-120"/>
              </a:rPr>
              <a:t>does the work</a:t>
            </a:r>
            <a:endParaRPr lang="en-US" sz="1300" dirty="0"/>
          </a:p>
        </p:txBody>
      </p:sp>
      <p:sp>
        <p:nvSpPr>
          <p:cNvPr id="46" name="Text 34"/>
          <p:cNvSpPr/>
          <p:nvPr/>
        </p:nvSpPr>
        <p:spPr>
          <a:xfrm>
            <a:off x="812767" y="5577712"/>
            <a:ext cx="10883445" cy="2564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6"/>
                </a:solidFill>
                <a:latin typeface="Instrument Sans" pitchFamily="34" charset="0"/>
                <a:ea typeface="Instrument Sans" pitchFamily="34" charset="-122"/>
                <a:cs typeface="Instrument Sans" pitchFamily="34" charset="-120"/>
              </a:rPr>
              <a:t>Runs locally: Qwen3 on MLX or vLLM, Parakeet-TDT 0.6B, Kokoro-82M and Silero VAD, carried over LiveKit.</a:t>
            </a:r>
            <a:endParaRPr lang="en-US" sz="1300" dirty="0"/>
          </a:p>
        </p:txBody>
      </p:sp>
      <p:sp>
        <p:nvSpPr>
          <p:cNvPr id="47" name="Text 35"/>
          <p:cNvSpPr/>
          <p:nvPr/>
        </p:nvSpPr>
        <p:spPr>
          <a:xfrm>
            <a:off x="8763019" y="6238241"/>
            <a:ext cx="2616200" cy="2387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6"/>
                </a:solidFill>
                <a:latin typeface="Instrument Sans" pitchFamily="34" charset="0"/>
                <a:ea typeface="Instrument Sans" pitchFamily="34" charset="-122"/>
                <a:cs typeface="Instrument Sans" pitchFamily="34" charset="-120"/>
              </a:rPr>
              <a:t>3 / 8</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1F4"/>
        </a:solidFill>
      </p:bgPr>
    </p:bg>
    <p:spTree>
      <p:nvGrpSpPr>
        <p:cNvPr id="1" name=""/>
        <p:cNvGrpSpPr/>
        <p:nvPr/>
      </p:nvGrpSpPr>
      <p:grpSpPr>
        <a:xfrm>
          <a:off x="0" y="0"/>
          <a:ext cx="0" cy="0"/>
          <a:chOff x="0" y="0"/>
          <a:chExt cx="0" cy="0"/>
        </a:xfrm>
      </p:grpSpPr>
      <p:sp>
        <p:nvSpPr>
          <p:cNvPr id="2" name="Text 0"/>
          <p:cNvSpPr/>
          <p:nvPr>
            <p:ph type="title"/>
          </p:nvPr>
        </p:nvSpPr>
        <p:spPr>
          <a:xfrm>
            <a:off x="812767" y="812767"/>
            <a:ext cx="10883445" cy="472401"/>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C2430"/>
                </a:solidFill>
                <a:latin typeface="Instrument Sans" pitchFamily="34" charset="0"/>
                <a:ea typeface="Instrument Sans" pitchFamily="34" charset="-122"/>
                <a:cs typeface="Instrument Sans" pitchFamily="34" charset="-120"/>
              </a:rPr>
              <a:t>Holding the plan until you finish</a:t>
            </a:r>
            <a:endParaRPr lang="en-US" sz="3200" dirty="0"/>
          </a:p>
        </p:txBody>
      </p:sp>
      <p:sp>
        <p:nvSpPr>
          <p:cNvPr id="3" name="Text 1"/>
          <p:cNvSpPr/>
          <p:nvPr/>
        </p:nvSpPr>
        <p:spPr>
          <a:xfrm>
            <a:off x="812767" y="1564522"/>
            <a:ext cx="1130286" cy="253190"/>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4A5566"/>
                </a:solidFill>
                <a:latin typeface="Instrument Sans" pitchFamily="34" charset="0"/>
                <a:ea typeface="Instrument Sans" pitchFamily="34" charset="-122"/>
                <a:cs typeface="Instrument Sans" pitchFamily="34" charset="-120"/>
              </a:rPr>
              <a:t>You</a:t>
            </a:r>
            <a:endParaRPr lang="en-US" sz="1300" dirty="0"/>
          </a:p>
        </p:txBody>
      </p:sp>
      <p:sp>
        <p:nvSpPr>
          <p:cNvPr id="4" name="Text 2"/>
          <p:cNvSpPr/>
          <p:nvPr/>
        </p:nvSpPr>
        <p:spPr>
          <a:xfrm>
            <a:off x="812767" y="2021720"/>
            <a:ext cx="1130286" cy="253190"/>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4A5566"/>
                </a:solidFill>
                <a:latin typeface="Instrument Sans" pitchFamily="34" charset="0"/>
                <a:ea typeface="Instrument Sans" pitchFamily="34" charset="-122"/>
                <a:cs typeface="Instrument Sans" pitchFamily="34" charset="-120"/>
              </a:rPr>
              <a:t>Gate</a:t>
            </a:r>
            <a:endParaRPr lang="en-US" sz="1300" dirty="0"/>
          </a:p>
        </p:txBody>
      </p:sp>
      <p:sp>
        <p:nvSpPr>
          <p:cNvPr id="5" name="Text 3"/>
          <p:cNvSpPr/>
          <p:nvPr/>
        </p:nvSpPr>
        <p:spPr>
          <a:xfrm>
            <a:off x="812767" y="2478918"/>
            <a:ext cx="1130286" cy="253190"/>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4A5566"/>
                </a:solidFill>
                <a:latin typeface="Instrument Sans" pitchFamily="34" charset="0"/>
                <a:ea typeface="Instrument Sans" pitchFamily="34" charset="-122"/>
                <a:cs typeface="Instrument Sans" pitchFamily="34" charset="-120"/>
              </a:rPr>
              <a:t>Tools</a:t>
            </a:r>
            <a:endParaRPr lang="en-US" sz="1300" dirty="0"/>
          </a:p>
        </p:txBody>
      </p:sp>
      <p:sp>
        <p:nvSpPr>
          <p:cNvPr id="6" name="Text 4"/>
          <p:cNvSpPr/>
          <p:nvPr/>
        </p:nvSpPr>
        <p:spPr>
          <a:xfrm>
            <a:off x="812767" y="2936118"/>
            <a:ext cx="1130286" cy="253190"/>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4A5566"/>
                </a:solidFill>
                <a:latin typeface="Instrument Sans" pitchFamily="34" charset="0"/>
                <a:ea typeface="Instrument Sans" pitchFamily="34" charset="-122"/>
                <a:cs typeface="Instrument Sans" pitchFamily="34" charset="-120"/>
              </a:rPr>
              <a:t>Agent</a:t>
            </a:r>
            <a:endParaRPr lang="en-US" sz="1300" dirty="0"/>
          </a:p>
        </p:txBody>
      </p:sp>
      <p:sp>
        <p:nvSpPr>
          <p:cNvPr id="7" name="Text 5"/>
          <p:cNvSpPr/>
          <p:nvPr/>
        </p:nvSpPr>
        <p:spPr>
          <a:xfrm>
            <a:off x="2082767" y="1513742"/>
            <a:ext cx="2412979" cy="330729"/>
          </a:xfrm>
          <a:custGeom>
            <a:avLst/>
            <a:gdLst/>
            <a:ahLst/>
            <a:cxnLst/>
            <a:rect l="l" t="t" r="r" b="b"/>
            <a:pathLst>
              <a:path w="2412979" h="330729">
                <a:moveTo>
                  <a:pt x="50800" y="0"/>
                </a:moveTo>
                <a:lnTo>
                  <a:pt x="2362179" y="0"/>
                </a:lnTo>
                <a:arcTo hR="50800" wR="50800" stAng="16200000" swAng="5400000"/>
                <a:lnTo>
                  <a:pt x="2412979" y="279929"/>
                </a:lnTo>
                <a:arcTo hR="50800" wR="50800" stAng="0" swAng="5400000"/>
                <a:lnTo>
                  <a:pt x="50800" y="330729"/>
                </a:lnTo>
                <a:arcTo hR="50800" wR="50800" stAng="5400000" swAng="5400000"/>
                <a:lnTo>
                  <a:pt x="0" y="50800"/>
                </a:lnTo>
                <a:arcTo hR="50800" wR="50800" stAng="10800000" swAng="5400000"/>
                <a:close/>
              </a:path>
            </a:pathLst>
          </a:custGeom>
          <a:solidFill>
            <a:srgbClr val="1C2430"/>
          </a:solidFill>
          <a:ln/>
        </p:spPr>
        <p:txBody>
          <a:bodyPr wrap="none" lIns="76200" tIns="0" rIns="8383" bIns="0" rtlCol="0" anchor="t">
            <a:normAutofit/>
          </a:bodyPr>
          <a:lstStyle/>
          <a:p>
            <a:pPr algn="l" indent="0" marL="0">
              <a:lnSpc>
                <a:spcPts val="2604"/>
              </a:lnSpc>
              <a:buNone/>
            </a:pPr>
            <a:r>
              <a:rPr lang="en-US" sz="1200" dirty="0">
                <a:solidFill>
                  <a:srgbClr val="EEF1F4"/>
                </a:solidFill>
                <a:latin typeface="Instrument Sans" pitchFamily="34" charset="0"/>
                <a:ea typeface="Instrument Sans" pitchFamily="34" charset="-122"/>
                <a:cs typeface="Instrument Sans" pitchFamily="34" charset="-120"/>
              </a:rPr>
              <a:t>Take me to the airport…</a:t>
            </a:r>
            <a:endParaRPr lang="en-US" sz="1200" dirty="0"/>
          </a:p>
        </p:txBody>
      </p:sp>
      <p:sp>
        <p:nvSpPr>
          <p:cNvPr id="8" name="Text 6"/>
          <p:cNvSpPr/>
          <p:nvPr/>
        </p:nvSpPr>
        <p:spPr>
          <a:xfrm>
            <a:off x="5511739" y="1513742"/>
            <a:ext cx="2666986" cy="330729"/>
          </a:xfrm>
          <a:custGeom>
            <a:avLst/>
            <a:gdLst/>
            <a:ahLst/>
            <a:cxnLst/>
            <a:rect l="l" t="t" r="r" b="b"/>
            <a:pathLst>
              <a:path w="2666986" h="330729">
                <a:moveTo>
                  <a:pt x="50800" y="0"/>
                </a:moveTo>
                <a:lnTo>
                  <a:pt x="2616186" y="0"/>
                </a:lnTo>
                <a:arcTo hR="50800" wR="50800" stAng="16200000" swAng="5400000"/>
                <a:lnTo>
                  <a:pt x="2666986" y="279929"/>
                </a:lnTo>
                <a:arcTo hR="50800" wR="50800" stAng="0" swAng="5400000"/>
                <a:lnTo>
                  <a:pt x="50800" y="330729"/>
                </a:lnTo>
                <a:arcTo hR="50800" wR="50800" stAng="5400000" swAng="5400000"/>
                <a:lnTo>
                  <a:pt x="0" y="50800"/>
                </a:lnTo>
                <a:arcTo hR="50800" wR="50800" stAng="10800000" swAng="5400000"/>
                <a:close/>
              </a:path>
            </a:pathLst>
          </a:custGeom>
          <a:solidFill>
            <a:srgbClr val="1C2430"/>
          </a:solidFill>
          <a:ln/>
        </p:spPr>
        <p:txBody>
          <a:bodyPr wrap="none" lIns="76200" tIns="0" rIns="762" bIns="0" rtlCol="0" anchor="t">
            <a:normAutofit/>
          </a:bodyPr>
          <a:lstStyle/>
          <a:p>
            <a:pPr algn="l" indent="0" marL="0">
              <a:lnSpc>
                <a:spcPts val="2604"/>
              </a:lnSpc>
              <a:buNone/>
            </a:pPr>
            <a:r>
              <a:rPr lang="en-US" sz="1200" dirty="0">
                <a:solidFill>
                  <a:srgbClr val="EEF1F4"/>
                </a:solidFill>
                <a:latin typeface="Instrument Sans" pitchFamily="34" charset="0"/>
                <a:ea typeface="Instrument Sans" pitchFamily="34" charset="-122"/>
                <a:cs typeface="Instrument Sans" pitchFamily="34" charset="-120"/>
              </a:rPr>
              <a:t>actually, the office first</a:t>
            </a:r>
            <a:endParaRPr lang="en-US" sz="1200" dirty="0"/>
          </a:p>
        </p:txBody>
      </p:sp>
      <p:sp>
        <p:nvSpPr>
          <p:cNvPr id="9" name="Text 7"/>
          <p:cNvSpPr/>
          <p:nvPr/>
        </p:nvSpPr>
        <p:spPr>
          <a:xfrm>
            <a:off x="4495746" y="1970940"/>
            <a:ext cx="1015993" cy="330729"/>
          </a:xfrm>
          <a:custGeom>
            <a:avLst/>
            <a:gdLst/>
            <a:ahLst/>
            <a:cxnLst/>
            <a:rect l="l" t="t" r="r" b="b"/>
            <a:pathLst>
              <a:path w="1015993" h="330729">
                <a:moveTo>
                  <a:pt x="50800" y="0"/>
                </a:moveTo>
                <a:lnTo>
                  <a:pt x="965193" y="0"/>
                </a:lnTo>
                <a:arcTo hR="50800" wR="50800" stAng="16200000" swAng="5400000"/>
                <a:lnTo>
                  <a:pt x="1015993" y="279929"/>
                </a:lnTo>
                <a:arcTo hR="50800" wR="50800" stAng="0" swAng="5400000"/>
                <a:lnTo>
                  <a:pt x="50800" y="330729"/>
                </a:lnTo>
                <a:arcTo hR="50800" wR="50800" stAng="5400000" swAng="5400000"/>
                <a:lnTo>
                  <a:pt x="0" y="50800"/>
                </a:lnTo>
                <a:arcTo hR="50800" wR="50800" stAng="10800000" swAng="5400000"/>
                <a:close/>
              </a:path>
            </a:pathLst>
          </a:custGeom>
          <a:solidFill>
            <a:srgbClr val="F0D49A"/>
          </a:solidFill>
          <a:ln/>
        </p:spPr>
        <p:txBody>
          <a:bodyPr wrap="none" lIns="76200" tIns="0" rIns="25400" bIns="0" rtlCol="0" anchor="t">
            <a:normAutofit/>
          </a:bodyPr>
          <a:lstStyle/>
          <a:p>
            <a:pPr algn="l" indent="0" marL="0">
              <a:lnSpc>
                <a:spcPts val="2604"/>
              </a:lnSpc>
              <a:buNone/>
            </a:pPr>
            <a:r>
              <a:rPr lang="en-US" sz="1200" dirty="0">
                <a:solidFill>
                  <a:srgbClr val="1C2430"/>
                </a:solidFill>
                <a:latin typeface="Instrument Sans" pitchFamily="34" charset="0"/>
                <a:ea typeface="Instrument Sans" pitchFamily="34" charset="-122"/>
                <a:cs typeface="Instrument Sans" pitchFamily="34" charset="-120"/>
              </a:rPr>
              <a:t>held</a:t>
            </a:r>
            <a:endParaRPr lang="en-US" sz="1200" dirty="0"/>
          </a:p>
        </p:txBody>
      </p:sp>
      <p:sp>
        <p:nvSpPr>
          <p:cNvPr id="10" name="Text 8"/>
          <p:cNvSpPr/>
          <p:nvPr/>
        </p:nvSpPr>
        <p:spPr>
          <a:xfrm>
            <a:off x="5511739" y="1970940"/>
            <a:ext cx="1142979" cy="330729"/>
          </a:xfrm>
          <a:custGeom>
            <a:avLst/>
            <a:gdLst/>
            <a:ahLst/>
            <a:cxnLst/>
            <a:rect l="l" t="t" r="r" b="b"/>
            <a:pathLst>
              <a:path w="1142979" h="330729">
                <a:moveTo>
                  <a:pt x="50800" y="0"/>
                </a:moveTo>
                <a:lnTo>
                  <a:pt x="1092179" y="0"/>
                </a:lnTo>
                <a:arcTo hR="50800" wR="50800" stAng="16200000" swAng="5400000"/>
                <a:lnTo>
                  <a:pt x="1142979" y="279929"/>
                </a:lnTo>
                <a:arcTo hR="50800" wR="50800" stAng="0" swAng="5400000"/>
                <a:lnTo>
                  <a:pt x="50800" y="330729"/>
                </a:lnTo>
                <a:arcTo hR="50800" wR="50800" stAng="5400000" swAng="5400000"/>
                <a:lnTo>
                  <a:pt x="0" y="50800"/>
                </a:lnTo>
                <a:arcTo hR="50800" wR="50800" stAng="10800000" swAng="5400000"/>
                <a:close/>
              </a:path>
            </a:pathLst>
          </a:custGeom>
          <a:solidFill>
            <a:srgbClr val="C2415B"/>
          </a:solidFill>
          <a:ln/>
        </p:spPr>
        <p:txBody>
          <a:bodyPr wrap="none" lIns="76200" tIns="0" rIns="25400" bIns="0" rtlCol="0" anchor="t">
            <a:normAutofit/>
          </a:bodyPr>
          <a:lstStyle/>
          <a:p>
            <a:pPr algn="l" indent="0" marL="0">
              <a:lnSpc>
                <a:spcPts val="2604"/>
              </a:lnSpc>
              <a:buNone/>
            </a:pPr>
            <a:r>
              <a:rPr lang="en-US" sz="1200" dirty="0">
                <a:solidFill>
                  <a:srgbClr val="FBFBF8"/>
                </a:solidFill>
                <a:latin typeface="Instrument Sans" pitchFamily="34" charset="0"/>
                <a:ea typeface="Instrument Sans" pitchFamily="34" charset="-122"/>
                <a:cs typeface="Instrument Sans" pitchFamily="34" charset="-120"/>
              </a:rPr>
              <a:t>dropped</a:t>
            </a:r>
            <a:endParaRPr lang="en-US" sz="1200" dirty="0"/>
          </a:p>
        </p:txBody>
      </p:sp>
      <p:sp>
        <p:nvSpPr>
          <p:cNvPr id="11" name="Text 9"/>
          <p:cNvSpPr/>
          <p:nvPr/>
        </p:nvSpPr>
        <p:spPr>
          <a:xfrm>
            <a:off x="8178760" y="1970940"/>
            <a:ext cx="888972" cy="330729"/>
          </a:xfrm>
          <a:custGeom>
            <a:avLst/>
            <a:gdLst/>
            <a:ahLst/>
            <a:cxnLst/>
            <a:rect l="l" t="t" r="r" b="b"/>
            <a:pathLst>
              <a:path w="888972" h="330729">
                <a:moveTo>
                  <a:pt x="50800" y="0"/>
                </a:moveTo>
                <a:lnTo>
                  <a:pt x="838172" y="0"/>
                </a:lnTo>
                <a:arcTo hR="50800" wR="50800" stAng="16200000" swAng="5400000"/>
                <a:lnTo>
                  <a:pt x="888972" y="279929"/>
                </a:lnTo>
                <a:arcTo hR="50800" wR="50800" stAng="0" swAng="5400000"/>
                <a:lnTo>
                  <a:pt x="50800" y="330729"/>
                </a:lnTo>
                <a:arcTo hR="50800" wR="50800" stAng="5400000" swAng="5400000"/>
                <a:lnTo>
                  <a:pt x="0" y="50800"/>
                </a:lnTo>
                <a:arcTo hR="50800" wR="50800" stAng="10800000" swAng="5400000"/>
                <a:close/>
              </a:path>
            </a:pathLst>
          </a:custGeom>
          <a:solidFill>
            <a:srgbClr val="F0D49A"/>
          </a:solidFill>
          <a:ln/>
        </p:spPr>
        <p:txBody>
          <a:bodyPr wrap="none" lIns="76200" tIns="0" rIns="25400" bIns="0" rtlCol="0" anchor="t">
            <a:normAutofit/>
          </a:bodyPr>
          <a:lstStyle/>
          <a:p>
            <a:pPr algn="l" indent="0" marL="0">
              <a:lnSpc>
                <a:spcPts val="2604"/>
              </a:lnSpc>
              <a:buNone/>
            </a:pPr>
            <a:r>
              <a:rPr lang="en-US" sz="1200" dirty="0">
                <a:solidFill>
                  <a:srgbClr val="1C2430"/>
                </a:solidFill>
                <a:latin typeface="Instrument Sans" pitchFamily="34" charset="0"/>
                <a:ea typeface="Instrument Sans" pitchFamily="34" charset="-122"/>
                <a:cs typeface="Instrument Sans" pitchFamily="34" charset="-120"/>
              </a:rPr>
              <a:t>held</a:t>
            </a:r>
            <a:endParaRPr lang="en-US" sz="1200" dirty="0"/>
          </a:p>
        </p:txBody>
      </p:sp>
      <p:sp>
        <p:nvSpPr>
          <p:cNvPr id="12" name="Text 10"/>
          <p:cNvSpPr/>
          <p:nvPr/>
        </p:nvSpPr>
        <p:spPr>
          <a:xfrm>
            <a:off x="9067767" y="1970940"/>
            <a:ext cx="888972" cy="330729"/>
          </a:xfrm>
          <a:custGeom>
            <a:avLst/>
            <a:gdLst/>
            <a:ahLst/>
            <a:cxnLst/>
            <a:rect l="l" t="t" r="r" b="b"/>
            <a:pathLst>
              <a:path w="888972" h="330729">
                <a:moveTo>
                  <a:pt x="50800" y="0"/>
                </a:moveTo>
                <a:lnTo>
                  <a:pt x="838172" y="0"/>
                </a:lnTo>
                <a:arcTo hR="50800" wR="50800" stAng="16200000" swAng="5400000"/>
                <a:lnTo>
                  <a:pt x="888972" y="279929"/>
                </a:lnTo>
                <a:arcTo hR="50800" wR="50800" stAng="0" swAng="5400000"/>
                <a:lnTo>
                  <a:pt x="50800" y="330729"/>
                </a:lnTo>
                <a:arcTo hR="50800" wR="50800" stAng="5400000" swAng="5400000"/>
                <a:lnTo>
                  <a:pt x="0" y="50800"/>
                </a:lnTo>
                <a:arcTo hR="50800" wR="50800" stAng="10800000" swAng="5400000"/>
                <a:close/>
              </a:path>
            </a:pathLst>
          </a:custGeom>
          <a:solidFill>
            <a:srgbClr val="2F5BEA"/>
          </a:solidFill>
          <a:ln/>
        </p:spPr>
        <p:txBody>
          <a:bodyPr wrap="none" lIns="76200" tIns="0" rIns="25400" bIns="0" rtlCol="0" anchor="t">
            <a:normAutofit/>
          </a:bodyPr>
          <a:lstStyle/>
          <a:p>
            <a:pPr algn="l" indent="0" marL="0">
              <a:lnSpc>
                <a:spcPts val="2604"/>
              </a:lnSpc>
              <a:buNone/>
            </a:pPr>
            <a:r>
              <a:rPr lang="en-US" sz="1200" dirty="0">
                <a:solidFill>
                  <a:srgbClr val="FBFBF8"/>
                </a:solidFill>
                <a:latin typeface="Instrument Sans" pitchFamily="34" charset="0"/>
                <a:ea typeface="Instrument Sans" pitchFamily="34" charset="-122"/>
                <a:cs typeface="Instrument Sans" pitchFamily="34" charset="-120"/>
              </a:rPr>
              <a:t>commit</a:t>
            </a:r>
            <a:endParaRPr lang="en-US" sz="1200" dirty="0"/>
          </a:p>
        </p:txBody>
      </p:sp>
      <p:sp>
        <p:nvSpPr>
          <p:cNvPr id="13" name="Text 11"/>
          <p:cNvSpPr/>
          <p:nvPr/>
        </p:nvSpPr>
        <p:spPr>
          <a:xfrm>
            <a:off x="4502096" y="2434489"/>
            <a:ext cx="2146272" cy="314171"/>
          </a:xfrm>
          <a:custGeom>
            <a:avLst/>
            <a:gdLst/>
            <a:ahLst/>
            <a:cxnLst/>
            <a:rect l="l" t="t" r="r" b="b"/>
            <a:pathLst>
              <a:path w="2146272" h="314171">
                <a:moveTo>
                  <a:pt x="44450" y="0"/>
                </a:moveTo>
                <a:lnTo>
                  <a:pt x="2101822" y="0"/>
                </a:lnTo>
                <a:arcTo hR="44450" wR="44450" stAng="16200000" swAng="5400000"/>
                <a:lnTo>
                  <a:pt x="2146272" y="269721"/>
                </a:lnTo>
                <a:arcTo hR="44450" wR="44450" stAng="0" swAng="5400000"/>
                <a:lnTo>
                  <a:pt x="44450" y="314171"/>
                </a:lnTo>
                <a:arcTo hR="44450" wR="44450" stAng="5400000" swAng="5400000"/>
                <a:lnTo>
                  <a:pt x="0" y="44450"/>
                </a:lnTo>
                <a:arcTo hR="44450" wR="44450" stAng="10800000" swAng="5400000"/>
                <a:close/>
              </a:path>
            </a:pathLst>
          </a:custGeom>
          <a:noFill/>
          <a:ln w="12700">
            <a:solidFill>
              <a:srgbClr val="C2415B"/>
            </a:solidFill>
            <a:prstDash val="dash"/>
          </a:ln>
        </p:spPr>
        <p:txBody>
          <a:bodyPr wrap="none" lIns="80874" tIns="4674" rIns="21339" bIns="0" rtlCol="0" anchor="t">
            <a:normAutofit/>
          </a:bodyPr>
          <a:lstStyle/>
          <a:p>
            <a:pPr algn="l" indent="0" marL="0">
              <a:lnSpc>
                <a:spcPts val="2400"/>
              </a:lnSpc>
              <a:buNone/>
            </a:pPr>
            <a:r>
              <a:rPr lang="en-US" sz="1200" dirty="0">
                <a:solidFill>
                  <a:srgbClr val="A3334A"/>
                </a:solidFill>
                <a:latin typeface="Instrument Sans" pitchFamily="34" charset="0"/>
                <a:ea typeface="Instrument Sans" pitchFamily="34" charset="-122"/>
                <a:cs typeface="Instrument Sans" pitchFamily="34" charset="-120"/>
              </a:rPr>
              <a:t>airport: never sent</a:t>
            </a:r>
            <a:endParaRPr lang="en-US" sz="1200" dirty="0"/>
          </a:p>
        </p:txBody>
      </p:sp>
      <p:sp>
        <p:nvSpPr>
          <p:cNvPr id="14" name="Text 12"/>
          <p:cNvSpPr/>
          <p:nvPr/>
        </p:nvSpPr>
        <p:spPr>
          <a:xfrm>
            <a:off x="9956739" y="2428139"/>
            <a:ext cx="1422377" cy="330729"/>
          </a:xfrm>
          <a:custGeom>
            <a:avLst/>
            <a:gdLst/>
            <a:ahLst/>
            <a:cxnLst/>
            <a:rect l="l" t="t" r="r" b="b"/>
            <a:pathLst>
              <a:path w="1422377" h="330729">
                <a:moveTo>
                  <a:pt x="50800" y="0"/>
                </a:moveTo>
                <a:lnTo>
                  <a:pt x="1371577" y="0"/>
                </a:lnTo>
                <a:arcTo hR="50800" wR="50800" stAng="16200000" swAng="5400000"/>
                <a:lnTo>
                  <a:pt x="1422377" y="279929"/>
                </a:lnTo>
                <a:arcTo hR="50800" wR="50800" stAng="0" swAng="5400000"/>
                <a:lnTo>
                  <a:pt x="50800" y="330729"/>
                </a:lnTo>
                <a:arcTo hR="50800" wR="50800" stAng="5400000" swAng="5400000"/>
                <a:lnTo>
                  <a:pt x="0" y="50800"/>
                </a:lnTo>
                <a:arcTo hR="50800" wR="50800" stAng="10800000" swAng="5400000"/>
                <a:close/>
              </a:path>
            </a:pathLst>
          </a:custGeom>
          <a:solidFill>
            <a:srgbClr val="2F5BEA"/>
          </a:solidFill>
          <a:ln/>
        </p:spPr>
        <p:txBody>
          <a:bodyPr wrap="none" lIns="76200" tIns="0" rIns="25400" bIns="0" rtlCol="0" anchor="t">
            <a:normAutofit/>
          </a:bodyPr>
          <a:lstStyle/>
          <a:p>
            <a:pPr algn="l" indent="0" marL="0">
              <a:lnSpc>
                <a:spcPts val="2604"/>
              </a:lnSpc>
              <a:buNone/>
            </a:pPr>
            <a:r>
              <a:rPr lang="en-US" sz="1200" dirty="0">
                <a:solidFill>
                  <a:srgbClr val="FBFBF8"/>
                </a:solidFill>
                <a:latin typeface="Instrument Sans" pitchFamily="34" charset="0"/>
                <a:ea typeface="Instrument Sans" pitchFamily="34" charset="-122"/>
                <a:cs typeface="Instrument Sans" pitchFamily="34" charset="-120"/>
              </a:rPr>
              <a:t>route: office</a:t>
            </a:r>
            <a:endParaRPr lang="en-US" sz="1200" dirty="0"/>
          </a:p>
        </p:txBody>
      </p:sp>
      <p:sp>
        <p:nvSpPr>
          <p:cNvPr id="15" name="Text 13"/>
          <p:cNvSpPr/>
          <p:nvPr/>
        </p:nvSpPr>
        <p:spPr>
          <a:xfrm>
            <a:off x="8242253" y="2885337"/>
            <a:ext cx="1460479" cy="330729"/>
          </a:xfrm>
          <a:custGeom>
            <a:avLst/>
            <a:gdLst/>
            <a:ahLst/>
            <a:cxnLst/>
            <a:rect l="l" t="t" r="r" b="b"/>
            <a:pathLst>
              <a:path w="1460479" h="330729">
                <a:moveTo>
                  <a:pt x="50800" y="0"/>
                </a:moveTo>
                <a:lnTo>
                  <a:pt x="1409679" y="0"/>
                </a:lnTo>
                <a:arcTo hR="50800" wR="50800" stAng="16200000" swAng="5400000"/>
                <a:lnTo>
                  <a:pt x="1460479" y="279929"/>
                </a:lnTo>
                <a:arcTo hR="50800" wR="50800" stAng="0" swAng="5400000"/>
                <a:lnTo>
                  <a:pt x="50800" y="330729"/>
                </a:lnTo>
                <a:arcTo hR="50800" wR="50800" stAng="5400000" swAng="5400000"/>
                <a:lnTo>
                  <a:pt x="0" y="50800"/>
                </a:lnTo>
                <a:arcTo hR="50800" wR="50800" stAng="10800000" swAng="5400000"/>
                <a:close/>
              </a:path>
            </a:pathLst>
          </a:custGeom>
          <a:solidFill>
            <a:srgbClr val="D5DBE3"/>
          </a:solidFill>
          <a:ln/>
        </p:spPr>
        <p:txBody>
          <a:bodyPr wrap="none" lIns="76200" tIns="0" rIns="25400" bIns="0" rtlCol="0" anchor="t">
            <a:normAutofit/>
          </a:bodyPr>
          <a:lstStyle/>
          <a:p>
            <a:pPr algn="l" indent="0" marL="0">
              <a:lnSpc>
                <a:spcPts val="2604"/>
              </a:lnSpc>
              <a:buNone/>
            </a:pPr>
            <a:r>
              <a:rPr lang="en-US" sz="1200" dirty="0">
                <a:solidFill>
                  <a:srgbClr val="1C2430"/>
                </a:solidFill>
                <a:latin typeface="Instrument Sans" pitchFamily="34" charset="0"/>
                <a:ea typeface="Instrument Sans" pitchFamily="34" charset="-122"/>
                <a:cs typeface="Instrument Sans" pitchFamily="34" charset="-120"/>
              </a:rPr>
              <a:t>“One moment.”</a:t>
            </a:r>
            <a:endParaRPr lang="en-US" sz="1200" dirty="0"/>
          </a:p>
        </p:txBody>
      </p:sp>
      <p:sp>
        <p:nvSpPr>
          <p:cNvPr id="16" name="Text 14"/>
          <p:cNvSpPr/>
          <p:nvPr/>
        </p:nvSpPr>
        <p:spPr>
          <a:xfrm>
            <a:off x="2082767" y="3355214"/>
            <a:ext cx="9575274"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6"/>
                </a:solidFill>
                <a:latin typeface="Instrument Sans" pitchFamily="34" charset="0"/>
                <a:ea typeface="Instrument Sans" pitchFamily="34" charset="-122"/>
                <a:cs typeface="Instrument Sans" pitchFamily="34" charset="-120"/>
              </a:rPr>
              <a:t>Schematic of one correction, not to scale. The airport plan is dropped before any call is sent.</a:t>
            </a:r>
            <a:endParaRPr lang="en-US" sz="1200" dirty="0"/>
          </a:p>
        </p:txBody>
      </p:sp>
      <p:sp>
        <p:nvSpPr>
          <p:cNvPr id="17" name="Shape 15"/>
          <p:cNvSpPr/>
          <p:nvPr/>
        </p:nvSpPr>
        <p:spPr>
          <a:xfrm>
            <a:off x="812767" y="3875894"/>
            <a:ext cx="2451116" cy="0"/>
          </a:xfrm>
          <a:prstGeom prst="line">
            <a:avLst/>
          </a:prstGeom>
          <a:noFill/>
          <a:ln w="25400">
            <a:solidFill>
              <a:srgbClr val="B7791F"/>
            </a:solidFill>
            <a:prstDash val="solid"/>
          </a:ln>
        </p:spPr>
      </p:sp>
      <p:sp>
        <p:nvSpPr>
          <p:cNvPr id="18" name="Text 16"/>
          <p:cNvSpPr/>
          <p:nvPr/>
        </p:nvSpPr>
        <p:spPr>
          <a:xfrm>
            <a:off x="812767" y="4014432"/>
            <a:ext cx="2524650"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2430"/>
                </a:solidFill>
                <a:latin typeface="Instrument Sans" pitchFamily="34" charset="0"/>
                <a:ea typeface="Instrument Sans" pitchFamily="34" charset="-122"/>
                <a:cs typeface="Instrument Sans" pitchFamily="34" charset="-120"/>
              </a:rPr>
              <a:t>Hold before acting</a:t>
            </a:r>
            <a:endParaRPr lang="en-US" sz="1400" dirty="0"/>
          </a:p>
        </p:txBody>
      </p:sp>
      <p:sp>
        <p:nvSpPr>
          <p:cNvPr id="19" name="Text 17"/>
          <p:cNvSpPr/>
          <p:nvPr/>
        </p:nvSpPr>
        <p:spPr>
          <a:xfrm>
            <a:off x="812767" y="4291281"/>
            <a:ext cx="2524650" cy="66546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6"/>
                </a:solidFill>
                <a:latin typeface="Instrument Sans" pitchFamily="34" charset="0"/>
                <a:ea typeface="Instrument Sans" pitchFamily="34" charset="-122"/>
                <a:cs typeface="Instrument Sans" pitchFamily="34" charset="-120"/>
              </a:rPr>
              <a:t>Reads wait 350 ms and writes 700 ms after you stop; 1.8 s if you sound unfinished.</a:t>
            </a:r>
            <a:endParaRPr lang="en-US" sz="1200" dirty="0"/>
          </a:p>
        </p:txBody>
      </p:sp>
      <p:sp>
        <p:nvSpPr>
          <p:cNvPr id="20" name="Shape 18"/>
          <p:cNvSpPr/>
          <p:nvPr/>
        </p:nvSpPr>
        <p:spPr>
          <a:xfrm>
            <a:off x="3517856" y="3875894"/>
            <a:ext cx="2451151" cy="0"/>
          </a:xfrm>
          <a:prstGeom prst="line">
            <a:avLst/>
          </a:prstGeom>
          <a:noFill/>
          <a:ln w="25400">
            <a:solidFill>
              <a:srgbClr val="C2415B"/>
            </a:solidFill>
            <a:prstDash val="solid"/>
          </a:ln>
        </p:spPr>
      </p:sp>
      <p:sp>
        <p:nvSpPr>
          <p:cNvPr id="21" name="Text 19"/>
          <p:cNvSpPr/>
          <p:nvPr/>
        </p:nvSpPr>
        <p:spPr>
          <a:xfrm>
            <a:off x="3517856" y="4014432"/>
            <a:ext cx="2524685"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2430"/>
                </a:solidFill>
                <a:latin typeface="Instrument Sans" pitchFamily="34" charset="0"/>
                <a:ea typeface="Instrument Sans" pitchFamily="34" charset="-122"/>
                <a:cs typeface="Instrument Sans" pitchFamily="34" charset="-120"/>
              </a:rPr>
              <a:t>New words replan</a:t>
            </a:r>
            <a:endParaRPr lang="en-US" sz="1400" dirty="0"/>
          </a:p>
        </p:txBody>
      </p:sp>
      <p:sp>
        <p:nvSpPr>
          <p:cNvPr id="22" name="Text 20"/>
          <p:cNvSpPr/>
          <p:nvPr/>
        </p:nvSpPr>
        <p:spPr>
          <a:xfrm>
            <a:off x="3517856" y="4291281"/>
            <a:ext cx="2524685" cy="66546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6"/>
                </a:solidFill>
                <a:latin typeface="Instrument Sans" pitchFamily="34" charset="0"/>
                <a:ea typeface="Instrument Sans" pitchFamily="34" charset="-122"/>
                <a:cs typeface="Instrument Sans" pitchFamily="34" charset="-120"/>
              </a:rPr>
              <a:t>Speaking again pauses the gate. The held plan is dropped and the merged request is planned again.</a:t>
            </a:r>
            <a:endParaRPr lang="en-US" sz="1200" dirty="0"/>
          </a:p>
        </p:txBody>
      </p:sp>
      <p:sp>
        <p:nvSpPr>
          <p:cNvPr id="23" name="Shape 21"/>
          <p:cNvSpPr/>
          <p:nvPr/>
        </p:nvSpPr>
        <p:spPr>
          <a:xfrm>
            <a:off x="6222979" y="3875894"/>
            <a:ext cx="2451116" cy="0"/>
          </a:xfrm>
          <a:prstGeom prst="line">
            <a:avLst/>
          </a:prstGeom>
          <a:noFill/>
          <a:ln w="25400">
            <a:solidFill>
              <a:srgbClr val="2F5BEA"/>
            </a:solidFill>
            <a:prstDash val="solid"/>
          </a:ln>
        </p:spPr>
      </p:sp>
      <p:sp>
        <p:nvSpPr>
          <p:cNvPr id="24" name="Text 22"/>
          <p:cNvSpPr/>
          <p:nvPr/>
        </p:nvSpPr>
        <p:spPr>
          <a:xfrm>
            <a:off x="6222979" y="4014432"/>
            <a:ext cx="2524650"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2430"/>
                </a:solidFill>
                <a:latin typeface="Instrument Sans" pitchFamily="34" charset="0"/>
                <a:ea typeface="Instrument Sans" pitchFamily="34" charset="-122"/>
                <a:cs typeface="Instrument Sans" pitchFamily="34" charset="-120"/>
              </a:rPr>
              <a:t>Stale reads cancelled</a:t>
            </a:r>
            <a:endParaRPr lang="en-US" sz="1400" dirty="0"/>
          </a:p>
        </p:txBody>
      </p:sp>
      <p:sp>
        <p:nvSpPr>
          <p:cNvPr id="25" name="Text 23"/>
          <p:cNvSpPr/>
          <p:nvPr/>
        </p:nvSpPr>
        <p:spPr>
          <a:xfrm>
            <a:off x="6222979" y="4291281"/>
            <a:ext cx="2524650" cy="66546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6"/>
                </a:solidFill>
                <a:latin typeface="Instrument Sans" pitchFamily="34" charset="0"/>
                <a:ea typeface="Instrument Sans" pitchFamily="34" charset="-122"/>
                <a:cs typeface="Instrument Sans" pitchFamily="34" charset="-120"/>
              </a:rPr>
              <a:t>After commit, a correction cancels reads in flight. A write already sent finishes and is not resent.</a:t>
            </a:r>
            <a:endParaRPr lang="en-US" sz="1200" dirty="0"/>
          </a:p>
        </p:txBody>
      </p:sp>
      <p:sp>
        <p:nvSpPr>
          <p:cNvPr id="26" name="Shape 24"/>
          <p:cNvSpPr/>
          <p:nvPr/>
        </p:nvSpPr>
        <p:spPr>
          <a:xfrm>
            <a:off x="8928068" y="3875894"/>
            <a:ext cx="2451151" cy="0"/>
          </a:xfrm>
          <a:prstGeom prst="line">
            <a:avLst/>
          </a:prstGeom>
          <a:noFill/>
          <a:ln w="25400">
            <a:solidFill>
              <a:srgbClr val="1C2430"/>
            </a:solidFill>
            <a:prstDash val="solid"/>
          </a:ln>
        </p:spPr>
      </p:sp>
      <p:sp>
        <p:nvSpPr>
          <p:cNvPr id="27" name="Text 25"/>
          <p:cNvSpPr/>
          <p:nvPr/>
        </p:nvSpPr>
        <p:spPr>
          <a:xfrm>
            <a:off x="8928068" y="4014432"/>
            <a:ext cx="2524685"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2430"/>
                </a:solidFill>
                <a:latin typeface="Instrument Sans" pitchFamily="34" charset="0"/>
                <a:ea typeface="Instrument Sans" pitchFamily="34" charset="-122"/>
                <a:cs typeface="Instrument Sans" pitchFamily="34" charset="-120"/>
              </a:rPr>
              <a:t>No double actions</a:t>
            </a:r>
            <a:endParaRPr lang="en-US" sz="1400" dirty="0"/>
          </a:p>
        </p:txBody>
      </p:sp>
      <p:sp>
        <p:nvSpPr>
          <p:cNvPr id="28" name="Text 26"/>
          <p:cNvSpPr/>
          <p:nvPr/>
        </p:nvSpPr>
        <p:spPr>
          <a:xfrm>
            <a:off x="8928068" y="4291281"/>
            <a:ext cx="2524685" cy="66546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6"/>
                </a:solidFill>
                <a:latin typeface="Instrument Sans" pitchFamily="34" charset="0"/>
                <a:ea typeface="Instrument Sans" pitchFamily="34" charset="-122"/>
                <a:cs typeface="Instrument Sans" pitchFamily="34" charset="-120"/>
              </a:rPr>
              <a:t>Each state-changing call is keyed by tool and arguments; an identical one is blocked, not rerun.</a:t>
            </a:r>
            <a:endParaRPr lang="en-US" sz="1200" dirty="0"/>
          </a:p>
        </p:txBody>
      </p:sp>
      <p:sp>
        <p:nvSpPr>
          <p:cNvPr id="29" name="Text 27"/>
          <p:cNvSpPr/>
          <p:nvPr/>
        </p:nvSpPr>
        <p:spPr>
          <a:xfrm>
            <a:off x="8763019" y="6238241"/>
            <a:ext cx="2616200" cy="2387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6"/>
                </a:solidFill>
                <a:latin typeface="Instrument Sans" pitchFamily="34" charset="0"/>
                <a:ea typeface="Instrument Sans" pitchFamily="34" charset="-122"/>
                <a:cs typeface="Instrument Sans" pitchFamily="34" charset="-120"/>
              </a:rPr>
              <a:t>4 / 8</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C2430"/>
        </a:solidFill>
      </p:bgPr>
    </p:bg>
    <p:spTree>
      <p:nvGrpSpPr>
        <p:cNvPr id="1" name=""/>
        <p:cNvGrpSpPr/>
        <p:nvPr/>
      </p:nvGrpSpPr>
      <p:grpSpPr>
        <a:xfrm>
          <a:off x="0" y="0"/>
          <a:ext cx="0" cy="0"/>
          <a:chOff x="0" y="0"/>
          <a:chExt cx="0" cy="0"/>
        </a:xfrm>
      </p:grpSpPr>
      <p:sp>
        <p:nvSpPr>
          <p:cNvPr id="2" name="Text 0"/>
          <p:cNvSpPr/>
          <p:nvPr>
            <p:ph type="title"/>
          </p:nvPr>
        </p:nvSpPr>
        <p:spPr>
          <a:xfrm>
            <a:off x="812767" y="812766"/>
            <a:ext cx="10883445" cy="472401"/>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EEF1F4"/>
                </a:solidFill>
                <a:latin typeface="Instrument Sans" pitchFamily="34" charset="0"/>
                <a:ea typeface="Instrument Sans" pitchFamily="34" charset="-122"/>
                <a:cs typeface="Instrument Sans" pitchFamily="34" charset="-120"/>
              </a:rPr>
              <a:t>Results on Full-Duplex-Bench v3</a:t>
            </a:r>
            <a:endParaRPr lang="en-US" sz="3200" dirty="0"/>
          </a:p>
        </p:txBody>
      </p:sp>
      <p:sp>
        <p:nvSpPr>
          <p:cNvPr id="3" name="Text 1"/>
          <p:cNvSpPr/>
          <p:nvPr/>
        </p:nvSpPr>
        <p:spPr>
          <a:xfrm>
            <a:off x="812767" y="1513740"/>
            <a:ext cx="4970773" cy="27430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4C4"/>
                </a:solidFill>
                <a:latin typeface="Instrument Sans" pitchFamily="34" charset="0"/>
                <a:ea typeface="Instrument Sans" pitchFamily="34" charset="-122"/>
                <a:cs typeface="Instrument Sans" pitchFamily="34" charset="-120"/>
              </a:rPr>
              <a:t>Strict pass rate on all 100 scenarios</a:t>
            </a:r>
            <a:endParaRPr lang="en-US" sz="1400" dirty="0"/>
          </a:p>
        </p:txBody>
      </p:sp>
      <p:sp>
        <p:nvSpPr>
          <p:cNvPr id="4" name="Text 2"/>
          <p:cNvSpPr/>
          <p:nvPr/>
        </p:nvSpPr>
        <p:spPr>
          <a:xfrm>
            <a:off x="812767" y="1889633"/>
            <a:ext cx="4970773" cy="1168414"/>
          </a:xfrm>
          <a:prstGeom prst="rect">
            <a:avLst/>
          </a:prstGeom>
          <a:noFill/>
          <a:ln/>
        </p:spPr>
        <p:txBody>
          <a:bodyPr wrap="square" lIns="0" tIns="0" rIns="0" bIns="0" rtlCol="0" anchor="t">
            <a:normAutofit/>
          </a:bodyPr>
          <a:lstStyle/>
          <a:p>
            <a:pPr algn="l" indent="0" marL="0">
              <a:lnSpc>
                <a:spcPts val="9000"/>
              </a:lnSpc>
              <a:buNone/>
            </a:pPr>
            <a:r>
              <a:rPr lang="en-US" sz="9000" b="1" spc="-200" kern="0" dirty="0">
                <a:solidFill>
                  <a:srgbClr val="EEF1F4"/>
                </a:solidFill>
                <a:latin typeface="Instrument Sans" pitchFamily="34" charset="0"/>
                <a:ea typeface="Instrument Sans" pitchFamily="34" charset="-122"/>
                <a:cs typeface="Instrument Sans" pitchFamily="34" charset="-120"/>
              </a:rPr>
              <a:t>58/100</a:t>
            </a:r>
            <a:endParaRPr lang="en-US" sz="9000" dirty="0"/>
          </a:p>
        </p:txBody>
      </p:sp>
      <p:sp>
        <p:nvSpPr>
          <p:cNvPr id="5" name="Text 3"/>
          <p:cNvSpPr/>
          <p:nvPr/>
        </p:nvSpPr>
        <p:spPr>
          <a:xfrm>
            <a:off x="812767" y="3159633"/>
            <a:ext cx="2485369" cy="388616"/>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8FA8FF"/>
                </a:solidFill>
                <a:latin typeface="Instrument Sans" pitchFamily="34" charset="0"/>
                <a:ea typeface="Instrument Sans" pitchFamily="34" charset="-122"/>
                <a:cs typeface="Instrument Sans" pitchFamily="34" charset="-120"/>
              </a:rPr>
              <a:t>82.3%</a:t>
            </a:r>
            <a:endParaRPr lang="en-US" sz="2600" dirty="0"/>
          </a:p>
        </p:txBody>
      </p:sp>
      <p:sp>
        <p:nvSpPr>
          <p:cNvPr id="6" name="Text 4"/>
          <p:cNvSpPr/>
          <p:nvPr/>
        </p:nvSpPr>
        <p:spPr>
          <a:xfrm>
            <a:off x="812767" y="3560921"/>
            <a:ext cx="2485369" cy="43688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9B4C4"/>
                </a:solidFill>
                <a:latin typeface="Instrument Sans" pitchFamily="34" charset="0"/>
                <a:ea typeface="Instrument Sans" pitchFamily="34" charset="-122"/>
                <a:cs typeface="Instrument Sans" pitchFamily="34" charset="-120"/>
              </a:rPr>
              <a:t>right tools chosen, in answered scenarios</a:t>
            </a:r>
            <a:endParaRPr lang="en-US" sz="1200" dirty="0"/>
          </a:p>
        </p:txBody>
      </p:sp>
      <p:sp>
        <p:nvSpPr>
          <p:cNvPr id="7" name="Text 5"/>
          <p:cNvSpPr/>
          <p:nvPr/>
        </p:nvSpPr>
        <p:spPr>
          <a:xfrm>
            <a:off x="3225746" y="3159633"/>
            <a:ext cx="2485404" cy="388616"/>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8FA8FF"/>
                </a:solidFill>
                <a:latin typeface="Instrument Sans" pitchFamily="34" charset="0"/>
                <a:ea typeface="Instrument Sans" pitchFamily="34" charset="-122"/>
                <a:cs typeface="Instrument Sans" pitchFamily="34" charset="-120"/>
              </a:rPr>
              <a:t>69.9%</a:t>
            </a:r>
            <a:endParaRPr lang="en-US" sz="2600" dirty="0"/>
          </a:p>
        </p:txBody>
      </p:sp>
      <p:sp>
        <p:nvSpPr>
          <p:cNvPr id="8" name="Text 6"/>
          <p:cNvSpPr/>
          <p:nvPr/>
        </p:nvSpPr>
        <p:spPr>
          <a:xfrm>
            <a:off x="3225746" y="3560921"/>
            <a:ext cx="2485404" cy="43688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9B4C4"/>
                </a:solidFill>
                <a:latin typeface="Instrument Sans" pitchFamily="34" charset="0"/>
                <a:ea typeface="Instrument Sans" pitchFamily="34" charset="-122"/>
                <a:cs typeface="Instrument Sans" pitchFamily="34" charset="-120"/>
              </a:rPr>
              <a:t>right arguments, in answered scenarios</a:t>
            </a:r>
            <a:endParaRPr lang="en-US" sz="1200" dirty="0"/>
          </a:p>
        </p:txBody>
      </p:sp>
      <p:sp>
        <p:nvSpPr>
          <p:cNvPr id="9" name="Text 7"/>
          <p:cNvSpPr/>
          <p:nvPr/>
        </p:nvSpPr>
        <p:spPr>
          <a:xfrm>
            <a:off x="812767" y="3972402"/>
            <a:ext cx="2485369" cy="388616"/>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8FA8FF"/>
                </a:solidFill>
                <a:latin typeface="Instrument Sans" pitchFamily="34" charset="0"/>
                <a:ea typeface="Instrument Sans" pitchFamily="34" charset="-122"/>
                <a:cs typeface="Instrument Sans" pitchFamily="34" charset="-120"/>
              </a:rPr>
              <a:t>87/100</a:t>
            </a:r>
            <a:endParaRPr lang="en-US" sz="2600" dirty="0"/>
          </a:p>
        </p:txBody>
      </p:sp>
      <p:sp>
        <p:nvSpPr>
          <p:cNvPr id="10" name="Text 8"/>
          <p:cNvSpPr/>
          <p:nvPr/>
        </p:nvSpPr>
        <p:spPr>
          <a:xfrm>
            <a:off x="812767" y="4373687"/>
            <a:ext cx="2485369" cy="43688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9B4C4"/>
                </a:solidFill>
                <a:latin typeface="Instrument Sans" pitchFamily="34" charset="0"/>
                <a:ea typeface="Instrument Sans" pitchFamily="34" charset="-122"/>
                <a:cs typeface="Instrument Sans" pitchFamily="34" charset="-120"/>
              </a:rPr>
              <a:t>scenarios where the agent took its turn</a:t>
            </a:r>
            <a:endParaRPr lang="en-US" sz="1200" dirty="0"/>
          </a:p>
        </p:txBody>
      </p:sp>
      <p:sp>
        <p:nvSpPr>
          <p:cNvPr id="11" name="Text 9"/>
          <p:cNvSpPr/>
          <p:nvPr/>
        </p:nvSpPr>
        <p:spPr>
          <a:xfrm>
            <a:off x="3225746" y="3972402"/>
            <a:ext cx="2485404" cy="388616"/>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8FA8FF"/>
                </a:solidFill>
                <a:latin typeface="Instrument Sans" pitchFamily="34" charset="0"/>
                <a:ea typeface="Instrument Sans" pitchFamily="34" charset="-122"/>
                <a:cs typeface="Instrument Sans" pitchFamily="34" charset="-120"/>
              </a:rPr>
              <a:t>4.94 s</a:t>
            </a:r>
            <a:endParaRPr lang="en-US" sz="2600" dirty="0"/>
          </a:p>
        </p:txBody>
      </p:sp>
      <p:sp>
        <p:nvSpPr>
          <p:cNvPr id="12" name="Text 10"/>
          <p:cNvSpPr/>
          <p:nvPr/>
        </p:nvSpPr>
        <p:spPr>
          <a:xfrm>
            <a:off x="3225746" y="4373687"/>
            <a:ext cx="2485404" cy="2311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A9B4C4"/>
                </a:solidFill>
                <a:latin typeface="Instrument Sans" pitchFamily="34" charset="0"/>
                <a:ea typeface="Instrument Sans" pitchFamily="34" charset="-122"/>
                <a:cs typeface="Instrument Sans" pitchFamily="34" charset="-120"/>
              </a:rPr>
              <a:t>mean time to respond</a:t>
            </a:r>
            <a:endParaRPr lang="en-US" sz="1200" dirty="0"/>
          </a:p>
        </p:txBody>
      </p:sp>
      <p:sp>
        <p:nvSpPr>
          <p:cNvPr id="13" name="Text 11"/>
          <p:cNvSpPr/>
          <p:nvPr/>
        </p:nvSpPr>
        <p:spPr>
          <a:xfrm>
            <a:off x="6248335" y="1513740"/>
            <a:ext cx="5284810" cy="26920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EF1F4"/>
                </a:solidFill>
                <a:latin typeface="Instrument Sans" pitchFamily="34" charset="0"/>
                <a:ea typeface="Instrument Sans" pitchFamily="34" charset="-122"/>
                <a:cs typeface="Instrument Sans" pitchFamily="34" charset="-120"/>
              </a:rPr>
              <a:t>Pass rate by domain</a:t>
            </a:r>
            <a:endParaRPr lang="en-US" sz="1600" dirty="0"/>
          </a:p>
        </p:txBody>
      </p:sp>
      <p:sp>
        <p:nvSpPr>
          <p:cNvPr id="14" name="Text 12"/>
          <p:cNvSpPr/>
          <p:nvPr/>
        </p:nvSpPr>
        <p:spPr>
          <a:xfrm>
            <a:off x="6248335" y="1948030"/>
            <a:ext cx="1694325" cy="2564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DE"/>
                </a:solidFill>
                <a:latin typeface="Instrument Sans" pitchFamily="34" charset="0"/>
                <a:ea typeface="Instrument Sans" pitchFamily="34" charset="-122"/>
                <a:cs typeface="Instrument Sans" pitchFamily="34" charset="-120"/>
              </a:rPr>
              <a:t>Finance and billing</a:t>
            </a:r>
            <a:endParaRPr lang="en-US" sz="1300" dirty="0"/>
          </a:p>
        </p:txBody>
      </p:sp>
      <p:sp>
        <p:nvSpPr>
          <p:cNvPr id="15" name="Text 13"/>
          <p:cNvSpPr/>
          <p:nvPr/>
        </p:nvSpPr>
        <p:spPr>
          <a:xfrm>
            <a:off x="10814168" y="1948030"/>
            <a:ext cx="565051" cy="256497"/>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EEF1F4"/>
                </a:solidFill>
                <a:latin typeface="Instrument Sans" pitchFamily="34" charset="0"/>
                <a:ea typeface="Instrument Sans" pitchFamily="34" charset="-122"/>
                <a:cs typeface="Instrument Sans" pitchFamily="34" charset="-120"/>
              </a:rPr>
              <a:t>84.0%</a:t>
            </a:r>
            <a:endParaRPr lang="en-US" sz="1300" dirty="0"/>
          </a:p>
        </p:txBody>
      </p:sp>
      <p:sp>
        <p:nvSpPr>
          <p:cNvPr id="16" name="Shape 14"/>
          <p:cNvSpPr/>
          <p:nvPr/>
        </p:nvSpPr>
        <p:spPr>
          <a:xfrm>
            <a:off x="6248335" y="2242620"/>
            <a:ext cx="5130884" cy="126986"/>
          </a:xfrm>
          <a:prstGeom prst="roundRect">
            <a:avLst>
              <a:gd name="adj" fmla="val 50000"/>
            </a:avLst>
          </a:prstGeom>
          <a:solidFill>
            <a:srgbClr val="2A3444"/>
          </a:solidFill>
          <a:ln/>
        </p:spPr>
      </p:sp>
      <p:sp>
        <p:nvSpPr>
          <p:cNvPr id="17" name="Shape 15"/>
          <p:cNvSpPr/>
          <p:nvPr/>
        </p:nvSpPr>
        <p:spPr>
          <a:xfrm>
            <a:off x="6248335" y="2242620"/>
            <a:ext cx="5130884" cy="126986"/>
          </a:xfrm>
          <a:prstGeom prst="roundRect">
            <a:avLst>
              <a:gd name="adj" fmla="val 50000"/>
            </a:avLst>
          </a:prstGeom>
          <a:solidFill>
            <a:srgbClr val="8FA8FF"/>
          </a:solidFill>
          <a:ln/>
        </p:spPr>
      </p:sp>
      <p:sp>
        <p:nvSpPr>
          <p:cNvPr id="18" name="Text 16"/>
          <p:cNvSpPr/>
          <p:nvPr/>
        </p:nvSpPr>
        <p:spPr>
          <a:xfrm>
            <a:off x="6248335" y="2560086"/>
            <a:ext cx="1950723" cy="2564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DE"/>
                </a:solidFill>
                <a:latin typeface="Instrument Sans" pitchFamily="34" charset="0"/>
                <a:ea typeface="Instrument Sans" pitchFamily="34" charset="-122"/>
                <a:cs typeface="Instrument Sans" pitchFamily="34" charset="-120"/>
              </a:rPr>
              <a:t>E-commerce support</a:t>
            </a:r>
            <a:endParaRPr lang="en-US" sz="1300" dirty="0"/>
          </a:p>
        </p:txBody>
      </p:sp>
      <p:sp>
        <p:nvSpPr>
          <p:cNvPr id="19" name="Text 17"/>
          <p:cNvSpPr/>
          <p:nvPr/>
        </p:nvSpPr>
        <p:spPr>
          <a:xfrm>
            <a:off x="10844223" y="2560086"/>
            <a:ext cx="534996" cy="256497"/>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EEF1F4"/>
                </a:solidFill>
                <a:latin typeface="Instrument Sans" pitchFamily="34" charset="0"/>
                <a:ea typeface="Instrument Sans" pitchFamily="34" charset="-122"/>
                <a:cs typeface="Instrument Sans" pitchFamily="34" charset="-120"/>
              </a:rPr>
              <a:t>72.4%</a:t>
            </a:r>
            <a:endParaRPr lang="en-US" sz="1300" dirty="0"/>
          </a:p>
        </p:txBody>
      </p:sp>
      <p:sp>
        <p:nvSpPr>
          <p:cNvPr id="20" name="Shape 18"/>
          <p:cNvSpPr/>
          <p:nvPr/>
        </p:nvSpPr>
        <p:spPr>
          <a:xfrm>
            <a:off x="6248335" y="2854675"/>
            <a:ext cx="5130884" cy="126986"/>
          </a:xfrm>
          <a:prstGeom prst="roundRect">
            <a:avLst>
              <a:gd name="adj" fmla="val 50000"/>
            </a:avLst>
          </a:prstGeom>
          <a:solidFill>
            <a:srgbClr val="2A3444"/>
          </a:solidFill>
          <a:ln/>
        </p:spPr>
      </p:sp>
      <p:sp>
        <p:nvSpPr>
          <p:cNvPr id="21" name="Shape 19"/>
          <p:cNvSpPr/>
          <p:nvPr/>
        </p:nvSpPr>
        <p:spPr>
          <a:xfrm>
            <a:off x="6248335" y="2854675"/>
            <a:ext cx="5130884" cy="126986"/>
          </a:xfrm>
          <a:prstGeom prst="roundRect">
            <a:avLst>
              <a:gd name="adj" fmla="val 50000"/>
            </a:avLst>
          </a:prstGeom>
          <a:solidFill>
            <a:srgbClr val="8FA8FF"/>
          </a:solidFill>
          <a:ln/>
        </p:spPr>
      </p:sp>
      <p:sp>
        <p:nvSpPr>
          <p:cNvPr id="22" name="Text 20"/>
          <p:cNvSpPr/>
          <p:nvPr/>
        </p:nvSpPr>
        <p:spPr>
          <a:xfrm>
            <a:off x="6248335" y="3172141"/>
            <a:ext cx="1659475" cy="2564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DE"/>
                </a:solidFill>
                <a:latin typeface="Instrument Sans" pitchFamily="34" charset="0"/>
                <a:ea typeface="Instrument Sans" pitchFamily="34" charset="-122"/>
                <a:cs typeface="Instrument Sans" pitchFamily="34" charset="-120"/>
              </a:rPr>
              <a:t>Travel and identity</a:t>
            </a:r>
            <a:endParaRPr lang="en-US" sz="1300" dirty="0"/>
          </a:p>
        </p:txBody>
      </p:sp>
      <p:sp>
        <p:nvSpPr>
          <p:cNvPr id="23" name="Text 21"/>
          <p:cNvSpPr/>
          <p:nvPr/>
        </p:nvSpPr>
        <p:spPr>
          <a:xfrm>
            <a:off x="10818716" y="3172141"/>
            <a:ext cx="560503" cy="256497"/>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EEF1F4"/>
                </a:solidFill>
                <a:latin typeface="Instrument Sans" pitchFamily="34" charset="0"/>
                <a:ea typeface="Instrument Sans" pitchFamily="34" charset="-122"/>
                <a:cs typeface="Instrument Sans" pitchFamily="34" charset="-120"/>
              </a:rPr>
              <a:t>45.0%</a:t>
            </a:r>
            <a:endParaRPr lang="en-US" sz="1300" dirty="0"/>
          </a:p>
        </p:txBody>
      </p:sp>
      <p:sp>
        <p:nvSpPr>
          <p:cNvPr id="24" name="Shape 22"/>
          <p:cNvSpPr/>
          <p:nvPr/>
        </p:nvSpPr>
        <p:spPr>
          <a:xfrm>
            <a:off x="6248335" y="3466731"/>
            <a:ext cx="5130884" cy="126986"/>
          </a:xfrm>
          <a:prstGeom prst="roundRect">
            <a:avLst>
              <a:gd name="adj" fmla="val 50000"/>
            </a:avLst>
          </a:prstGeom>
          <a:solidFill>
            <a:srgbClr val="2A3444"/>
          </a:solidFill>
          <a:ln/>
        </p:spPr>
      </p:sp>
      <p:sp>
        <p:nvSpPr>
          <p:cNvPr id="25" name="Shape 23"/>
          <p:cNvSpPr/>
          <p:nvPr/>
        </p:nvSpPr>
        <p:spPr>
          <a:xfrm>
            <a:off x="6248335" y="3466731"/>
            <a:ext cx="5130884" cy="126986"/>
          </a:xfrm>
          <a:prstGeom prst="roundRect">
            <a:avLst>
              <a:gd name="adj" fmla="val 50000"/>
            </a:avLst>
          </a:prstGeom>
          <a:solidFill>
            <a:srgbClr val="8FA8FF"/>
          </a:solidFill>
          <a:ln/>
        </p:spPr>
      </p:sp>
      <p:sp>
        <p:nvSpPr>
          <p:cNvPr id="26" name="Text 24"/>
          <p:cNvSpPr/>
          <p:nvPr/>
        </p:nvSpPr>
        <p:spPr>
          <a:xfrm>
            <a:off x="6248335" y="3784197"/>
            <a:ext cx="1910498" cy="2564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DE"/>
                </a:solidFill>
                <a:latin typeface="Instrument Sans" pitchFamily="34" charset="0"/>
                <a:ea typeface="Instrument Sans" pitchFamily="34" charset="-122"/>
                <a:cs typeface="Instrument Sans" pitchFamily="34" charset="-120"/>
              </a:rPr>
              <a:t>Housing and location</a:t>
            </a:r>
            <a:endParaRPr lang="en-US" sz="1300" dirty="0"/>
          </a:p>
        </p:txBody>
      </p:sp>
      <p:sp>
        <p:nvSpPr>
          <p:cNvPr id="27" name="Text 25"/>
          <p:cNvSpPr/>
          <p:nvPr/>
        </p:nvSpPr>
        <p:spPr>
          <a:xfrm>
            <a:off x="10832069" y="3784197"/>
            <a:ext cx="547150" cy="256497"/>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EEF1F4"/>
                </a:solidFill>
                <a:latin typeface="Instrument Sans" pitchFamily="34" charset="0"/>
                <a:ea typeface="Instrument Sans" pitchFamily="34" charset="-122"/>
                <a:cs typeface="Instrument Sans" pitchFamily="34" charset="-120"/>
              </a:rPr>
              <a:t>26.9%</a:t>
            </a:r>
            <a:endParaRPr lang="en-US" sz="1300" dirty="0"/>
          </a:p>
        </p:txBody>
      </p:sp>
      <p:sp>
        <p:nvSpPr>
          <p:cNvPr id="28" name="Shape 26"/>
          <p:cNvSpPr/>
          <p:nvPr/>
        </p:nvSpPr>
        <p:spPr>
          <a:xfrm>
            <a:off x="6248335" y="4078787"/>
            <a:ext cx="5130884" cy="126986"/>
          </a:xfrm>
          <a:prstGeom prst="roundRect">
            <a:avLst>
              <a:gd name="adj" fmla="val 50000"/>
            </a:avLst>
          </a:prstGeom>
          <a:solidFill>
            <a:srgbClr val="2A3444"/>
          </a:solidFill>
          <a:ln/>
        </p:spPr>
      </p:sp>
      <p:sp>
        <p:nvSpPr>
          <p:cNvPr id="29" name="Shape 27"/>
          <p:cNvSpPr/>
          <p:nvPr/>
        </p:nvSpPr>
        <p:spPr>
          <a:xfrm>
            <a:off x="6248335" y="4078787"/>
            <a:ext cx="5130884" cy="126986"/>
          </a:xfrm>
          <a:prstGeom prst="roundRect">
            <a:avLst>
              <a:gd name="adj" fmla="val 50000"/>
            </a:avLst>
          </a:prstGeom>
          <a:solidFill>
            <a:srgbClr val="8FA8FF"/>
          </a:solidFill>
          <a:ln/>
        </p:spPr>
      </p:sp>
      <p:sp>
        <p:nvSpPr>
          <p:cNvPr id="30" name="Text 28"/>
          <p:cNvSpPr/>
          <p:nvPr/>
        </p:nvSpPr>
        <p:spPr>
          <a:xfrm>
            <a:off x="812767" y="5039140"/>
            <a:ext cx="10883445"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4"/>
                </a:solidFill>
                <a:latin typeface="Instrument Sans" pitchFamily="34" charset="0"/>
                <a:ea typeface="Instrument Sans" pitchFamily="34" charset="-122"/>
                <a:cs typeface="Instrument Sans" pitchFamily="34" charset="-120"/>
              </a:rPr>
              <a:t>Our own run on 25 Sep 2026: Apple Silicon, Qwen3-8B 4-bit, MLX speech recognition in place of NeMo, exact-match scoring with no LLM judge. The current code has not been re-run yet; only the organizers’ re-run is official.</a:t>
            </a:r>
            <a:endParaRPr lang="en-US" sz="1200" dirty="0"/>
          </a:p>
        </p:txBody>
      </p:sp>
      <p:sp>
        <p:nvSpPr>
          <p:cNvPr id="31" name="Text 29"/>
          <p:cNvSpPr/>
          <p:nvPr/>
        </p:nvSpPr>
        <p:spPr>
          <a:xfrm>
            <a:off x="8763019" y="6238239"/>
            <a:ext cx="2616200" cy="2387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B4C4"/>
                </a:solidFill>
                <a:latin typeface="Instrument Sans" pitchFamily="34" charset="0"/>
                <a:ea typeface="Instrument Sans" pitchFamily="34" charset="-122"/>
                <a:cs typeface="Instrument Sans" pitchFamily="34" charset="-120"/>
              </a:rPr>
              <a:t>5 / 8</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1F4"/>
        </a:solidFill>
      </p:bgPr>
    </p:bg>
    <p:spTree>
      <p:nvGrpSpPr>
        <p:cNvPr id="1" name=""/>
        <p:cNvGrpSpPr/>
        <p:nvPr/>
      </p:nvGrpSpPr>
      <p:grpSpPr>
        <a:xfrm>
          <a:off x="0" y="0"/>
          <a:ext cx="0" cy="0"/>
          <a:chOff x="0" y="0"/>
          <a:chExt cx="0" cy="0"/>
        </a:xfrm>
      </p:grpSpPr>
      <p:sp>
        <p:nvSpPr>
          <p:cNvPr id="2" name="Text 0"/>
          <p:cNvSpPr/>
          <p:nvPr>
            <p:ph type="title"/>
          </p:nvPr>
        </p:nvSpPr>
        <p:spPr>
          <a:xfrm>
            <a:off x="812767" y="812769"/>
            <a:ext cx="10883445" cy="472401"/>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C2430"/>
                </a:solidFill>
                <a:latin typeface="Instrument Sans" pitchFamily="34" charset="0"/>
                <a:ea typeface="Instrument Sans" pitchFamily="34" charset="-122"/>
                <a:cs typeface="Instrument Sans" pitchFamily="34" charset="-120"/>
              </a:rPr>
              <a:t>Failures are missed calls, not stale ones</a:t>
            </a:r>
            <a:endParaRPr lang="en-US" sz="3200" dirty="0"/>
          </a:p>
        </p:txBody>
      </p:sp>
      <p:sp>
        <p:nvSpPr>
          <p:cNvPr id="3" name="Text 1"/>
          <p:cNvSpPr/>
          <p:nvPr/>
        </p:nvSpPr>
        <p:spPr>
          <a:xfrm>
            <a:off x="812767" y="1615337"/>
            <a:ext cx="5232400" cy="26920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2430"/>
                </a:solidFill>
                <a:latin typeface="Instrument Sans" pitchFamily="34" charset="0"/>
                <a:ea typeface="Instrument Sans" pitchFamily="34" charset="-122"/>
                <a:cs typeface="Instrument Sans" pitchFamily="34" charset="-120"/>
              </a:rPr>
              <a:t>Why 42 of 100 scenarios failed</a:t>
            </a:r>
            <a:endParaRPr lang="en-US" sz="1600" dirty="0"/>
          </a:p>
        </p:txBody>
      </p:sp>
      <p:sp>
        <p:nvSpPr>
          <p:cNvPr id="4" name="Shape 2"/>
          <p:cNvSpPr/>
          <p:nvPr/>
        </p:nvSpPr>
        <p:spPr>
          <a:xfrm>
            <a:off x="812767" y="2062339"/>
            <a:ext cx="2783844" cy="457199"/>
          </a:xfrm>
          <a:custGeom>
            <a:avLst/>
            <a:gdLst/>
            <a:ahLst/>
            <a:cxnLst/>
            <a:rect l="l" t="t" r="r" b="b"/>
            <a:pathLst>
              <a:path w="2783844" h="457199">
                <a:moveTo>
                  <a:pt x="0" y="63500"/>
                </a:moveTo>
                <a:arcTo hR="63500" wR="63500" stAng="10800000" swAng="5400000"/>
                <a:lnTo>
                  <a:pt x="2783844" y="0"/>
                </a:lnTo>
                <a:lnTo>
                  <a:pt x="2783844" y="457199"/>
                </a:lnTo>
                <a:lnTo>
                  <a:pt x="63500" y="457199"/>
                </a:lnTo>
                <a:arcTo hR="63500" wR="63500" stAng="5400000" swAng="5400000"/>
                <a:close/>
              </a:path>
            </a:pathLst>
          </a:custGeom>
          <a:solidFill>
            <a:srgbClr val="1C2430"/>
          </a:solidFill>
          <a:ln/>
        </p:spPr>
      </p:sp>
      <p:sp>
        <p:nvSpPr>
          <p:cNvPr id="5" name="Shape 3"/>
          <p:cNvSpPr/>
          <p:nvPr/>
        </p:nvSpPr>
        <p:spPr>
          <a:xfrm>
            <a:off x="3596611" y="2062339"/>
            <a:ext cx="360667" cy="457199"/>
          </a:xfrm>
          <a:prstGeom prst="rect">
            <a:avLst/>
          </a:prstGeom>
          <a:solidFill>
            <a:srgbClr val="8A95A5"/>
          </a:solidFill>
          <a:ln/>
        </p:spPr>
      </p:sp>
      <p:sp>
        <p:nvSpPr>
          <p:cNvPr id="6" name="Shape 4"/>
          <p:cNvSpPr/>
          <p:nvPr/>
        </p:nvSpPr>
        <p:spPr>
          <a:xfrm>
            <a:off x="3957278" y="2062339"/>
            <a:ext cx="1813567" cy="457199"/>
          </a:xfrm>
          <a:prstGeom prst="rect">
            <a:avLst/>
          </a:prstGeom>
          <a:solidFill>
            <a:srgbClr val="2F5BEA"/>
          </a:solidFill>
          <a:ln/>
        </p:spPr>
      </p:sp>
      <p:sp>
        <p:nvSpPr>
          <p:cNvPr id="7" name="Shape 5"/>
          <p:cNvSpPr/>
          <p:nvPr/>
        </p:nvSpPr>
        <p:spPr>
          <a:xfrm>
            <a:off x="5770845" y="2062339"/>
            <a:ext cx="121922" cy="457199"/>
          </a:xfrm>
          <a:custGeom>
            <a:avLst/>
            <a:gdLst/>
            <a:ahLst/>
            <a:cxnLst/>
            <a:rect l="l" t="t" r="r" b="b"/>
            <a:pathLst>
              <a:path w="121922" h="457199">
                <a:moveTo>
                  <a:pt x="58422" y="0"/>
                </a:moveTo>
                <a:arcTo hR="63500" wR="63500" stAng="16200000" swAng="5400000"/>
                <a:lnTo>
                  <a:pt x="121922" y="393699"/>
                </a:lnTo>
                <a:arcTo hR="63500" wR="63500" stAng="0" swAng="5400000"/>
                <a:lnTo>
                  <a:pt x="0" y="457199"/>
                </a:lnTo>
                <a:lnTo>
                  <a:pt x="0" y="0"/>
                </a:lnTo>
                <a:close/>
              </a:path>
            </a:pathLst>
          </a:custGeom>
          <a:solidFill>
            <a:srgbClr val="C2415B"/>
          </a:solidFill>
          <a:ln/>
        </p:spPr>
      </p:sp>
      <p:sp>
        <p:nvSpPr>
          <p:cNvPr id="8" name="Shape 6"/>
          <p:cNvSpPr/>
          <p:nvPr/>
        </p:nvSpPr>
        <p:spPr>
          <a:xfrm>
            <a:off x="812767" y="2758281"/>
            <a:ext cx="177767" cy="177767"/>
          </a:xfrm>
          <a:prstGeom prst="roundRect">
            <a:avLst>
              <a:gd name="adj" fmla="val 21433"/>
            </a:avLst>
          </a:prstGeom>
          <a:solidFill>
            <a:srgbClr val="1C2430"/>
          </a:solidFill>
          <a:ln/>
        </p:spPr>
      </p:sp>
      <p:sp>
        <p:nvSpPr>
          <p:cNvPr id="9" name="Text 7"/>
          <p:cNvSpPr/>
          <p:nvPr/>
        </p:nvSpPr>
        <p:spPr>
          <a:xfrm>
            <a:off x="1104808" y="2722730"/>
            <a:ext cx="2427221" cy="274308"/>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2430"/>
                </a:solidFill>
                <a:latin typeface="Instrument Sans" pitchFamily="34" charset="0"/>
                <a:ea typeface="Instrument Sans" pitchFamily="34" charset="-122"/>
                <a:cs typeface="Instrument Sans" pitchFamily="34" charset="-120"/>
              </a:rPr>
              <a:t>23</a:t>
            </a:r>
            <a:r>
              <a:rPr lang="en-US" sz="1400" dirty="0">
                <a:solidFill>
                  <a:srgbClr val="1C2430"/>
                </a:solidFill>
                <a:latin typeface="Instrument Sans" pitchFamily="34" charset="0"/>
                <a:ea typeface="Instrument Sans" pitchFamily="34" charset="-122"/>
                <a:cs typeface="Instrument Sans" pitchFamily="34" charset="-120"/>
              </a:rPr>
              <a:t> made no tool call at all</a:t>
            </a:r>
            <a:endParaRPr lang="en-US" sz="1400" dirty="0"/>
          </a:p>
        </p:txBody>
      </p:sp>
      <p:sp>
        <p:nvSpPr>
          <p:cNvPr id="10" name="Shape 8"/>
          <p:cNvSpPr/>
          <p:nvPr/>
        </p:nvSpPr>
        <p:spPr>
          <a:xfrm>
            <a:off x="812767" y="3121465"/>
            <a:ext cx="177767" cy="177767"/>
          </a:xfrm>
          <a:prstGeom prst="roundRect">
            <a:avLst>
              <a:gd name="adj" fmla="val 21433"/>
            </a:avLst>
          </a:prstGeom>
          <a:solidFill>
            <a:srgbClr val="8A95A5"/>
          </a:solidFill>
          <a:ln/>
        </p:spPr>
      </p:sp>
      <p:sp>
        <p:nvSpPr>
          <p:cNvPr id="11" name="Text 9"/>
          <p:cNvSpPr/>
          <p:nvPr/>
        </p:nvSpPr>
        <p:spPr>
          <a:xfrm>
            <a:off x="1104808" y="3085911"/>
            <a:ext cx="4221592" cy="274308"/>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2430"/>
                </a:solidFill>
                <a:latin typeface="Instrument Sans" pitchFamily="34" charset="0"/>
                <a:ea typeface="Instrument Sans" pitchFamily="34" charset="-122"/>
                <a:cs typeface="Instrument Sans" pitchFamily="34" charset="-120"/>
              </a:rPr>
              <a:t>3</a:t>
            </a:r>
            <a:r>
              <a:rPr lang="en-US" sz="1400" dirty="0">
                <a:solidFill>
                  <a:srgbClr val="1C2430"/>
                </a:solidFill>
                <a:latin typeface="Instrument Sans" pitchFamily="34" charset="0"/>
                <a:ea typeface="Instrument Sans" pitchFamily="34" charset="-122"/>
                <a:cs typeface="Instrument Sans" pitchFamily="34" charset="-120"/>
              </a:rPr>
              <a:t> made some expected calls, missed others</a:t>
            </a:r>
            <a:endParaRPr lang="en-US" sz="1400" dirty="0"/>
          </a:p>
        </p:txBody>
      </p:sp>
      <p:sp>
        <p:nvSpPr>
          <p:cNvPr id="12" name="Shape 10"/>
          <p:cNvSpPr/>
          <p:nvPr/>
        </p:nvSpPr>
        <p:spPr>
          <a:xfrm>
            <a:off x="812767" y="3484646"/>
            <a:ext cx="177767" cy="177767"/>
          </a:xfrm>
          <a:prstGeom prst="roundRect">
            <a:avLst>
              <a:gd name="adj" fmla="val 21433"/>
            </a:avLst>
          </a:prstGeom>
          <a:solidFill>
            <a:srgbClr val="2F5BEA"/>
          </a:solidFill>
          <a:ln/>
        </p:spPr>
      </p:sp>
      <p:sp>
        <p:nvSpPr>
          <p:cNvPr id="13" name="Text 11"/>
          <p:cNvSpPr/>
          <p:nvPr/>
        </p:nvSpPr>
        <p:spPr>
          <a:xfrm>
            <a:off x="1104808" y="3449092"/>
            <a:ext cx="4482538" cy="274308"/>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2430"/>
                </a:solidFill>
                <a:latin typeface="Instrument Sans" pitchFamily="34" charset="0"/>
                <a:ea typeface="Instrument Sans" pitchFamily="34" charset="-122"/>
                <a:cs typeface="Instrument Sans" pitchFamily="34" charset="-120"/>
              </a:rPr>
              <a:t>15</a:t>
            </a:r>
            <a:r>
              <a:rPr lang="en-US" sz="1400" dirty="0">
                <a:solidFill>
                  <a:srgbClr val="1C2430"/>
                </a:solidFill>
                <a:latin typeface="Instrument Sans" pitchFamily="34" charset="0"/>
                <a:ea typeface="Instrument Sans" pitchFamily="34" charset="-122"/>
                <a:cs typeface="Instrument Sans" pitchFamily="34" charset="-120"/>
              </a:rPr>
              <a:t> chose the right tools with wrong arguments</a:t>
            </a:r>
            <a:endParaRPr lang="en-US" sz="1400" dirty="0"/>
          </a:p>
        </p:txBody>
      </p:sp>
      <p:sp>
        <p:nvSpPr>
          <p:cNvPr id="14" name="Shape 12"/>
          <p:cNvSpPr/>
          <p:nvPr/>
        </p:nvSpPr>
        <p:spPr>
          <a:xfrm>
            <a:off x="812767" y="3847827"/>
            <a:ext cx="177767" cy="177767"/>
          </a:xfrm>
          <a:prstGeom prst="roundRect">
            <a:avLst>
              <a:gd name="adj" fmla="val 21433"/>
            </a:avLst>
          </a:prstGeom>
          <a:solidFill>
            <a:srgbClr val="C2415B"/>
          </a:solidFill>
          <a:ln/>
        </p:spPr>
      </p:sp>
      <p:sp>
        <p:nvSpPr>
          <p:cNvPr id="15" name="Text 13"/>
          <p:cNvSpPr/>
          <p:nvPr/>
        </p:nvSpPr>
        <p:spPr>
          <a:xfrm>
            <a:off x="1104808" y="3812276"/>
            <a:ext cx="1884619" cy="274308"/>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2430"/>
                </a:solidFill>
                <a:latin typeface="Instrument Sans" pitchFamily="34" charset="0"/>
                <a:ea typeface="Instrument Sans" pitchFamily="34" charset="-122"/>
                <a:cs typeface="Instrument Sans" pitchFamily="34" charset="-120"/>
              </a:rPr>
              <a:t>1</a:t>
            </a:r>
            <a:r>
              <a:rPr lang="en-US" sz="1400" dirty="0">
                <a:solidFill>
                  <a:srgbClr val="1C2430"/>
                </a:solidFill>
                <a:latin typeface="Instrument Sans" pitchFamily="34" charset="0"/>
                <a:ea typeface="Instrument Sans" pitchFamily="34" charset="-122"/>
                <a:cs typeface="Instrument Sans" pitchFamily="34" charset="-120"/>
              </a:rPr>
              <a:t> made an extra call</a:t>
            </a:r>
            <a:endParaRPr lang="en-US" sz="1400" dirty="0"/>
          </a:p>
        </p:txBody>
      </p:sp>
      <p:sp>
        <p:nvSpPr>
          <p:cNvPr id="16" name="Text 14"/>
          <p:cNvSpPr/>
          <p:nvPr/>
        </p:nvSpPr>
        <p:spPr>
          <a:xfrm>
            <a:off x="6502342" y="1615337"/>
            <a:ext cx="5023183" cy="26920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2430"/>
                </a:solidFill>
                <a:latin typeface="Instrument Sans" pitchFamily="34" charset="0"/>
                <a:ea typeface="Instrument Sans" pitchFamily="34" charset="-122"/>
                <a:cs typeface="Instrument Sans" pitchFamily="34" charset="-120"/>
              </a:rPr>
              <a:t>Pass rate by chained calls</a:t>
            </a:r>
            <a:endParaRPr lang="en-US" sz="1600" dirty="0"/>
          </a:p>
        </p:txBody>
      </p:sp>
      <p:sp>
        <p:nvSpPr>
          <p:cNvPr id="17" name="Text 15"/>
          <p:cNvSpPr/>
          <p:nvPr/>
        </p:nvSpPr>
        <p:spPr>
          <a:xfrm>
            <a:off x="6502342" y="2049627"/>
            <a:ext cx="1661046" cy="2564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6"/>
                </a:solidFill>
                <a:latin typeface="Instrument Sans" pitchFamily="34" charset="0"/>
                <a:ea typeface="Instrument Sans" pitchFamily="34" charset="-122"/>
                <a:cs typeface="Instrument Sans" pitchFamily="34" charset="-120"/>
              </a:rPr>
              <a:t>1 call, 66 scenarios</a:t>
            </a:r>
            <a:endParaRPr lang="en-US" sz="1300" dirty="0"/>
          </a:p>
        </p:txBody>
      </p:sp>
      <p:sp>
        <p:nvSpPr>
          <p:cNvPr id="18" name="Text 16"/>
          <p:cNvSpPr/>
          <p:nvPr/>
        </p:nvSpPr>
        <p:spPr>
          <a:xfrm>
            <a:off x="10839138" y="2049627"/>
            <a:ext cx="540081" cy="256497"/>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1C2430"/>
                </a:solidFill>
                <a:latin typeface="Instrument Sans" pitchFamily="34" charset="0"/>
                <a:ea typeface="Instrument Sans" pitchFamily="34" charset="-122"/>
                <a:cs typeface="Instrument Sans" pitchFamily="34" charset="-120"/>
              </a:rPr>
              <a:t>66.7%</a:t>
            </a:r>
            <a:endParaRPr lang="en-US" sz="1300" dirty="0"/>
          </a:p>
        </p:txBody>
      </p:sp>
      <p:sp>
        <p:nvSpPr>
          <p:cNvPr id="19" name="Shape 17"/>
          <p:cNvSpPr/>
          <p:nvPr/>
        </p:nvSpPr>
        <p:spPr>
          <a:xfrm>
            <a:off x="6502342" y="2344217"/>
            <a:ext cx="4876877" cy="126986"/>
          </a:xfrm>
          <a:prstGeom prst="roundRect">
            <a:avLst>
              <a:gd name="adj" fmla="val 50000"/>
            </a:avLst>
          </a:prstGeom>
          <a:solidFill>
            <a:srgbClr val="D5DBE3"/>
          </a:solidFill>
          <a:ln/>
        </p:spPr>
      </p:sp>
      <p:sp>
        <p:nvSpPr>
          <p:cNvPr id="20" name="Shape 18"/>
          <p:cNvSpPr/>
          <p:nvPr/>
        </p:nvSpPr>
        <p:spPr>
          <a:xfrm>
            <a:off x="6502342" y="2344217"/>
            <a:ext cx="4876877" cy="126986"/>
          </a:xfrm>
          <a:prstGeom prst="roundRect">
            <a:avLst>
              <a:gd name="adj" fmla="val 50000"/>
            </a:avLst>
          </a:prstGeom>
          <a:solidFill>
            <a:srgbClr val="2F5BEA"/>
          </a:solidFill>
          <a:ln/>
        </p:spPr>
      </p:sp>
      <p:sp>
        <p:nvSpPr>
          <p:cNvPr id="21" name="Text 19"/>
          <p:cNvSpPr/>
          <p:nvPr/>
        </p:nvSpPr>
        <p:spPr>
          <a:xfrm>
            <a:off x="6502342" y="2661682"/>
            <a:ext cx="1731574" cy="2564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6"/>
                </a:solidFill>
                <a:latin typeface="Instrument Sans" pitchFamily="34" charset="0"/>
                <a:ea typeface="Instrument Sans" pitchFamily="34" charset="-122"/>
                <a:cs typeface="Instrument Sans" pitchFamily="34" charset="-120"/>
              </a:rPr>
              <a:t>2 calls, 18 scenarios</a:t>
            </a:r>
            <a:endParaRPr lang="en-US" sz="1300" dirty="0"/>
          </a:p>
        </p:txBody>
      </p:sp>
      <p:sp>
        <p:nvSpPr>
          <p:cNvPr id="22" name="Text 20"/>
          <p:cNvSpPr/>
          <p:nvPr/>
        </p:nvSpPr>
        <p:spPr>
          <a:xfrm>
            <a:off x="10810282" y="2661682"/>
            <a:ext cx="568937" cy="256497"/>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1C2430"/>
                </a:solidFill>
                <a:latin typeface="Instrument Sans" pitchFamily="34" charset="0"/>
                <a:ea typeface="Instrument Sans" pitchFamily="34" charset="-122"/>
                <a:cs typeface="Instrument Sans" pitchFamily="34" charset="-120"/>
              </a:rPr>
              <a:t>50.0%</a:t>
            </a:r>
            <a:endParaRPr lang="en-US" sz="1300" dirty="0"/>
          </a:p>
        </p:txBody>
      </p:sp>
      <p:sp>
        <p:nvSpPr>
          <p:cNvPr id="23" name="Shape 21"/>
          <p:cNvSpPr/>
          <p:nvPr/>
        </p:nvSpPr>
        <p:spPr>
          <a:xfrm>
            <a:off x="6502342" y="2956272"/>
            <a:ext cx="4876877" cy="126986"/>
          </a:xfrm>
          <a:prstGeom prst="roundRect">
            <a:avLst>
              <a:gd name="adj" fmla="val 50000"/>
            </a:avLst>
          </a:prstGeom>
          <a:solidFill>
            <a:srgbClr val="D5DBE3"/>
          </a:solidFill>
          <a:ln/>
        </p:spPr>
      </p:sp>
      <p:sp>
        <p:nvSpPr>
          <p:cNvPr id="24" name="Shape 22"/>
          <p:cNvSpPr/>
          <p:nvPr/>
        </p:nvSpPr>
        <p:spPr>
          <a:xfrm>
            <a:off x="6502342" y="2956272"/>
            <a:ext cx="4876877" cy="126986"/>
          </a:xfrm>
          <a:prstGeom prst="roundRect">
            <a:avLst>
              <a:gd name="adj" fmla="val 50000"/>
            </a:avLst>
          </a:prstGeom>
          <a:solidFill>
            <a:srgbClr val="2F5BEA"/>
          </a:solidFill>
          <a:ln/>
        </p:spPr>
      </p:sp>
      <p:sp>
        <p:nvSpPr>
          <p:cNvPr id="25" name="Text 23"/>
          <p:cNvSpPr/>
          <p:nvPr/>
        </p:nvSpPr>
        <p:spPr>
          <a:xfrm>
            <a:off x="6502342" y="3273738"/>
            <a:ext cx="1740710" cy="2564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6"/>
                </a:solidFill>
                <a:latin typeface="Instrument Sans" pitchFamily="34" charset="0"/>
                <a:ea typeface="Instrument Sans" pitchFamily="34" charset="-122"/>
                <a:cs typeface="Instrument Sans" pitchFamily="34" charset="-120"/>
              </a:rPr>
              <a:t>3 calls, 16 scenarios</a:t>
            </a:r>
            <a:endParaRPr lang="en-US" sz="1300" dirty="0"/>
          </a:p>
        </p:txBody>
      </p:sp>
      <p:sp>
        <p:nvSpPr>
          <p:cNvPr id="26" name="Text 24"/>
          <p:cNvSpPr/>
          <p:nvPr/>
        </p:nvSpPr>
        <p:spPr>
          <a:xfrm>
            <a:off x="10876304" y="3273738"/>
            <a:ext cx="502915" cy="256497"/>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1C2430"/>
                </a:solidFill>
                <a:latin typeface="Instrument Sans" pitchFamily="34" charset="0"/>
                <a:ea typeface="Instrument Sans" pitchFamily="34" charset="-122"/>
                <a:cs typeface="Instrument Sans" pitchFamily="34" charset="-120"/>
              </a:rPr>
              <a:t>31.2%</a:t>
            </a:r>
            <a:endParaRPr lang="en-US" sz="1300" dirty="0"/>
          </a:p>
        </p:txBody>
      </p:sp>
      <p:sp>
        <p:nvSpPr>
          <p:cNvPr id="27" name="Shape 25"/>
          <p:cNvSpPr/>
          <p:nvPr/>
        </p:nvSpPr>
        <p:spPr>
          <a:xfrm>
            <a:off x="6502342" y="3568328"/>
            <a:ext cx="4876877" cy="126986"/>
          </a:xfrm>
          <a:prstGeom prst="roundRect">
            <a:avLst>
              <a:gd name="adj" fmla="val 50000"/>
            </a:avLst>
          </a:prstGeom>
          <a:solidFill>
            <a:srgbClr val="D5DBE3"/>
          </a:solidFill>
          <a:ln/>
        </p:spPr>
      </p:sp>
      <p:sp>
        <p:nvSpPr>
          <p:cNvPr id="28" name="Shape 26"/>
          <p:cNvSpPr/>
          <p:nvPr/>
        </p:nvSpPr>
        <p:spPr>
          <a:xfrm>
            <a:off x="6502342" y="3568328"/>
            <a:ext cx="4876877" cy="126986"/>
          </a:xfrm>
          <a:prstGeom prst="roundRect">
            <a:avLst>
              <a:gd name="adj" fmla="val 50000"/>
            </a:avLst>
          </a:prstGeom>
          <a:solidFill>
            <a:srgbClr val="2F5BEA"/>
          </a:solidFill>
          <a:ln/>
        </p:spPr>
      </p:sp>
      <p:sp>
        <p:nvSpPr>
          <p:cNvPr id="29" name="Text 27"/>
          <p:cNvSpPr/>
          <p:nvPr/>
        </p:nvSpPr>
        <p:spPr>
          <a:xfrm>
            <a:off x="812767" y="4416751"/>
            <a:ext cx="9810750" cy="558839"/>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2430"/>
                </a:solidFill>
                <a:latin typeface="Instrument Sans" pitchFamily="34" charset="0"/>
                <a:ea typeface="Instrument Sans" pitchFamily="34" charset="-122"/>
                <a:cs typeface="Instrument Sans" pitchFamily="34" charset="-120"/>
              </a:rPr>
              <a:t>Only one failure came from an extra call, the error the commit gate exists to prevent. Self-correction scenarios pass at 58.8%, level with the overall rate.</a:t>
            </a:r>
            <a:endParaRPr lang="en-US" sz="1500" dirty="0"/>
          </a:p>
        </p:txBody>
      </p:sp>
      <p:sp>
        <p:nvSpPr>
          <p:cNvPr id="30" name="Text 28"/>
          <p:cNvSpPr/>
          <p:nvPr/>
        </p:nvSpPr>
        <p:spPr>
          <a:xfrm>
            <a:off x="8763019" y="6238242"/>
            <a:ext cx="2616200" cy="2387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6"/>
                </a:solidFill>
                <a:latin typeface="Instrument Sans" pitchFamily="34" charset="0"/>
                <a:ea typeface="Instrument Sans" pitchFamily="34" charset="-122"/>
                <a:cs typeface="Instrument Sans" pitchFamily="34" charset="-120"/>
              </a:rPr>
              <a:t>6 / 8</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1F4"/>
        </a:solidFill>
      </p:bgPr>
    </p:bg>
    <p:spTree>
      <p:nvGrpSpPr>
        <p:cNvPr id="1" name=""/>
        <p:cNvGrpSpPr/>
        <p:nvPr/>
      </p:nvGrpSpPr>
      <p:grpSpPr>
        <a:xfrm>
          <a:off x="0" y="0"/>
          <a:ext cx="0" cy="0"/>
          <a:chOff x="0" y="0"/>
          <a:chExt cx="0" cy="0"/>
        </a:xfrm>
      </p:grpSpPr>
      <p:sp>
        <p:nvSpPr>
          <p:cNvPr id="2" name="Text 0"/>
          <p:cNvSpPr/>
          <p:nvPr>
            <p:ph type="title"/>
          </p:nvPr>
        </p:nvSpPr>
        <p:spPr>
          <a:xfrm>
            <a:off x="812767" y="812769"/>
            <a:ext cx="10883445" cy="472401"/>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C2430"/>
                </a:solidFill>
                <a:latin typeface="Instrument Sans" pitchFamily="34" charset="0"/>
                <a:ea typeface="Instrument Sans" pitchFamily="34" charset="-122"/>
                <a:cs typeface="Instrument Sans" pitchFamily="34" charset="-120"/>
              </a:rPr>
              <a:t>Extension: in-car navigation</a:t>
            </a:r>
            <a:endParaRPr lang="en-US" sz="3200" dirty="0"/>
          </a:p>
        </p:txBody>
      </p:sp>
      <p:sp>
        <p:nvSpPr>
          <p:cNvPr id="3" name="Shape 1"/>
          <p:cNvSpPr/>
          <p:nvPr/>
        </p:nvSpPr>
        <p:spPr>
          <a:xfrm>
            <a:off x="812767" y="1513743"/>
            <a:ext cx="5715000" cy="3314698"/>
          </a:xfrm>
          <a:prstGeom prst="roundRect">
            <a:avLst>
              <a:gd name="adj" fmla="val 3065"/>
            </a:avLst>
          </a:prstGeom>
          <a:solidFill>
            <a:srgbClr val="F8F9FB"/>
          </a:solidFill>
          <a:ln/>
        </p:spPr>
      </p:sp>
      <p:pic>
        <p:nvPicPr>
          <p:cNvPr id="4" name="Image 0" descr="PRISM Duplex web UI: the conversation shows “Navigate to the airport.”, the filler “One moment.”, and the reply that navigation to Kempegowda International Airport started with an 88-minute estimate; the live strip below hears a follow-up over the agent’s voice">    </p:cNvPr>
          <p:cNvPicPr>
            <a:picLocks noChangeAspect="1"/>
          </p:cNvPicPr>
          <p:nvPr/>
        </p:nvPicPr>
        <p:blipFill>
          <a:blip r:embed="rId1"/>
          <a:srcRect l="-49" r="-49" t="0" b="0"/>
          <a:stretch/>
        </p:blipFill>
        <p:spPr>
          <a:xfrm>
            <a:off x="819117" y="1520093"/>
            <a:ext cx="5702300" cy="3301998"/>
          </a:xfrm>
          <a:prstGeom prst="roundRect">
            <a:avLst>
              <a:gd name="adj" fmla="val 2885"/>
            </a:avLst>
          </a:prstGeom>
        </p:spPr>
      </p:pic>
      <p:sp>
        <p:nvSpPr>
          <p:cNvPr id="5" name="Shape 2"/>
          <p:cNvSpPr/>
          <p:nvPr/>
        </p:nvSpPr>
        <p:spPr>
          <a:xfrm>
            <a:off x="815942" y="1516918"/>
            <a:ext cx="5708650" cy="3308348"/>
          </a:xfrm>
          <a:prstGeom prst="roundRect">
            <a:avLst>
              <a:gd name="adj" fmla="val 2975"/>
            </a:avLst>
          </a:prstGeom>
          <a:noFill/>
          <a:ln w="6350">
            <a:solidFill>
              <a:srgbClr val="D5DBE3"/>
            </a:solidFill>
            <a:prstDash val="solid"/>
          </a:ln>
        </p:spPr>
      </p:sp>
      <p:sp>
        <p:nvSpPr>
          <p:cNvPr id="6" name="Text 3"/>
          <p:cNvSpPr/>
          <p:nvPr/>
        </p:nvSpPr>
        <p:spPr>
          <a:xfrm>
            <a:off x="812767" y="4955428"/>
            <a:ext cx="5886450"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6"/>
                </a:solidFill>
                <a:latin typeface="Instrument Sans" pitchFamily="34" charset="0"/>
                <a:ea typeface="Instrument Sans" pitchFamily="34" charset="-122"/>
                <a:cs typeface="Instrument Sans" pitchFamily="34" charset="-120"/>
              </a:rPr>
              <a:t>Live run on 4 Oct 2026. The strip at the bottom shows your voice above the line and the agent’s below, overlapping when you talk over it.</a:t>
            </a:r>
            <a:endParaRPr lang="en-US" sz="1200" dirty="0"/>
          </a:p>
        </p:txBody>
      </p:sp>
      <p:sp>
        <p:nvSpPr>
          <p:cNvPr id="7" name="Text 4"/>
          <p:cNvSpPr/>
          <p:nvPr/>
        </p:nvSpPr>
        <p:spPr>
          <a:xfrm>
            <a:off x="6934150" y="1513743"/>
            <a:ext cx="4578421" cy="52321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C2430"/>
                </a:solidFill>
                <a:latin typeface="Instrument Sans" pitchFamily="34" charset="0"/>
                <a:ea typeface="Instrument Sans" pitchFamily="34" charset="-122"/>
                <a:cs typeface="Instrument Sans" pitchFamily="34" charset="-120"/>
              </a:rPr>
              <a:t>Same coordinator, new tool manifest: six tools on a deterministic Bengaluru map.</a:t>
            </a:r>
            <a:endParaRPr lang="en-US" sz="1400" dirty="0"/>
          </a:p>
        </p:txBody>
      </p:sp>
      <p:sp>
        <p:nvSpPr>
          <p:cNvPr id="8" name="Text 5"/>
          <p:cNvSpPr/>
          <p:nvPr/>
        </p:nvSpPr>
        <p:spPr>
          <a:xfrm>
            <a:off x="6934150" y="2151258"/>
            <a:ext cx="4578421"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2430"/>
                </a:solidFill>
                <a:latin typeface="Instrument Sans" pitchFamily="34" charset="0"/>
                <a:ea typeface="Instrument Sans" pitchFamily="34" charset="-122"/>
                <a:cs typeface="Instrument Sans" pitchFamily="34" charset="-120"/>
              </a:rPr>
              <a:t>Mind changed mid-sentence</a:t>
            </a:r>
            <a:endParaRPr lang="en-US" sz="1400" dirty="0"/>
          </a:p>
        </p:txBody>
      </p:sp>
      <p:sp>
        <p:nvSpPr>
          <p:cNvPr id="9" name="Text 6"/>
          <p:cNvSpPr/>
          <p:nvPr/>
        </p:nvSpPr>
        <p:spPr>
          <a:xfrm>
            <a:off x="6934150" y="2402681"/>
            <a:ext cx="4578421"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6"/>
                </a:solidFill>
                <a:latin typeface="Instrument Sans" pitchFamily="34" charset="0"/>
                <a:ea typeface="Instrument Sans" pitchFamily="34" charset="-122"/>
                <a:cs typeface="Instrument Sans" pitchFamily="34" charset="-120"/>
              </a:rPr>
              <a:t>“Airport… actually, the office first” computes only the office route.</a:t>
            </a:r>
            <a:endParaRPr lang="en-US" sz="1200" dirty="0"/>
          </a:p>
        </p:txBody>
      </p:sp>
      <p:sp>
        <p:nvSpPr>
          <p:cNvPr id="10" name="Text 7"/>
          <p:cNvSpPr/>
          <p:nvPr/>
        </p:nvSpPr>
        <p:spPr>
          <a:xfrm>
            <a:off x="6934150" y="2969087"/>
            <a:ext cx="4578421"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2430"/>
                </a:solidFill>
                <a:latin typeface="Instrument Sans" pitchFamily="34" charset="0"/>
                <a:ea typeface="Instrument Sans" pitchFamily="34" charset="-122"/>
                <a:cs typeface="Instrument Sans" pitchFamily="34" charset="-120"/>
              </a:rPr>
              <a:t>Mind changed after commit</a:t>
            </a:r>
            <a:endParaRPr lang="en-US" sz="1400" dirty="0"/>
          </a:p>
        </p:txBody>
      </p:sp>
      <p:sp>
        <p:nvSpPr>
          <p:cNvPr id="11" name="Text 8"/>
          <p:cNvSpPr/>
          <p:nvPr/>
        </p:nvSpPr>
        <p:spPr>
          <a:xfrm>
            <a:off x="6934150" y="3220510"/>
            <a:ext cx="4578421"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6"/>
                </a:solidFill>
                <a:latin typeface="Instrument Sans" pitchFamily="34" charset="0"/>
                <a:ea typeface="Instrument Sans" pitchFamily="34" charset="-122"/>
                <a:cs typeface="Instrument Sans" pitchFamily="34" charset="-120"/>
              </a:rPr>
              <a:t>The in-flight airport route is cancelled; navigation starts once.</a:t>
            </a:r>
            <a:endParaRPr lang="en-US" sz="1200" dirty="0"/>
          </a:p>
        </p:txBody>
      </p:sp>
      <p:sp>
        <p:nvSpPr>
          <p:cNvPr id="12" name="Text 9"/>
          <p:cNvSpPr/>
          <p:nvPr/>
        </p:nvSpPr>
        <p:spPr>
          <a:xfrm>
            <a:off x="6934150" y="3573565"/>
            <a:ext cx="4578421"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2430"/>
                </a:solidFill>
                <a:latin typeface="Instrument Sans" pitchFamily="34" charset="0"/>
                <a:ea typeface="Instrument Sans" pitchFamily="34" charset="-122"/>
                <a:cs typeface="Instrument Sans" pitchFamily="34" charset="-120"/>
              </a:rPr>
              <a:t>Talking over the agent</a:t>
            </a:r>
            <a:endParaRPr lang="en-US" sz="1400" dirty="0"/>
          </a:p>
        </p:txBody>
      </p:sp>
      <p:sp>
        <p:nvSpPr>
          <p:cNvPr id="13" name="Text 10"/>
          <p:cNvSpPr/>
          <p:nvPr/>
        </p:nvSpPr>
        <p:spPr>
          <a:xfrm>
            <a:off x="6934150" y="3824988"/>
            <a:ext cx="4578421"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6"/>
                </a:solidFill>
                <a:latin typeface="Instrument Sans" pitchFamily="34" charset="0"/>
                <a:ea typeface="Instrument Sans" pitchFamily="34" charset="-122"/>
                <a:cs typeface="Instrument Sans" pitchFamily="34" charset="-120"/>
              </a:rPr>
              <a:t>“Add a coffee stop” during the arrival estimate adds one waypoint.</a:t>
            </a:r>
            <a:endParaRPr lang="en-US" sz="1200" dirty="0"/>
          </a:p>
        </p:txBody>
      </p:sp>
      <p:sp>
        <p:nvSpPr>
          <p:cNvPr id="14" name="Text 11"/>
          <p:cNvSpPr/>
          <p:nvPr/>
        </p:nvSpPr>
        <p:spPr>
          <a:xfrm>
            <a:off x="6934150" y="4391397"/>
            <a:ext cx="4578421" cy="23875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2430"/>
                </a:solidFill>
                <a:latin typeface="Instrument Sans" pitchFamily="34" charset="0"/>
                <a:ea typeface="Instrument Sans" pitchFamily="34" charset="-122"/>
                <a:cs typeface="Instrument Sans" pitchFamily="34" charset="-120"/>
              </a:rPr>
              <a:t>Repeated request</a:t>
            </a:r>
            <a:endParaRPr lang="en-US" sz="1400" dirty="0"/>
          </a:p>
        </p:txBody>
      </p:sp>
      <p:sp>
        <p:nvSpPr>
          <p:cNvPr id="15" name="Text 12"/>
          <p:cNvSpPr/>
          <p:nvPr/>
        </p:nvSpPr>
        <p:spPr>
          <a:xfrm>
            <a:off x="6934150" y="4642817"/>
            <a:ext cx="4578421" cy="2387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6"/>
                </a:solidFill>
                <a:latin typeface="Instrument Sans" pitchFamily="34" charset="0"/>
                <a:ea typeface="Instrument Sans" pitchFamily="34" charset="-122"/>
                <a:cs typeface="Instrument Sans" pitchFamily="34" charset="-120"/>
              </a:rPr>
              <a:t>Adding a stop that is already on the route changes nothing.</a:t>
            </a:r>
            <a:endParaRPr lang="en-US" sz="1200" dirty="0"/>
          </a:p>
        </p:txBody>
      </p:sp>
      <p:sp>
        <p:nvSpPr>
          <p:cNvPr id="16" name="Text 13"/>
          <p:cNvSpPr/>
          <p:nvPr/>
        </p:nvSpPr>
        <p:spPr>
          <a:xfrm>
            <a:off x="6934150" y="4995872"/>
            <a:ext cx="4578421" cy="4521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6"/>
                </a:solidFill>
                <a:latin typeface="Instrument Sans" pitchFamily="34" charset="0"/>
                <a:ea typeface="Instrument Sans" pitchFamily="34" charset="-122"/>
                <a:cs typeface="Instrument Sans" pitchFamily="34" charset="-120"/>
              </a:rPr>
              <a:t>Simulated routes and arrival times: no GPS, traffic or vehicle control.</a:t>
            </a:r>
            <a:endParaRPr lang="en-US" sz="1200" dirty="0"/>
          </a:p>
        </p:txBody>
      </p:sp>
      <p:sp>
        <p:nvSpPr>
          <p:cNvPr id="17" name="Text 14"/>
          <p:cNvSpPr/>
          <p:nvPr/>
        </p:nvSpPr>
        <p:spPr>
          <a:xfrm>
            <a:off x="8763019" y="6238242"/>
            <a:ext cx="2616200" cy="2387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6"/>
                </a:solidFill>
                <a:latin typeface="Instrument Sans" pitchFamily="34" charset="0"/>
                <a:ea typeface="Instrument Sans" pitchFamily="34" charset="-122"/>
                <a:cs typeface="Instrument Sans" pitchFamily="34" charset="-120"/>
              </a:rPr>
              <a:t>7 / 8</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1F4"/>
        </a:solidFill>
      </p:bgPr>
    </p:bg>
    <p:spTree>
      <p:nvGrpSpPr>
        <p:cNvPr id="1" name=""/>
        <p:cNvGrpSpPr/>
        <p:nvPr/>
      </p:nvGrpSpPr>
      <p:grpSpPr>
        <a:xfrm>
          <a:off x="0" y="0"/>
          <a:ext cx="0" cy="0"/>
          <a:chOff x="0" y="0"/>
          <a:chExt cx="0" cy="0"/>
        </a:xfrm>
      </p:grpSpPr>
      <p:sp>
        <p:nvSpPr>
          <p:cNvPr id="2" name="Text 0"/>
          <p:cNvSpPr/>
          <p:nvPr>
            <p:ph type="title"/>
          </p:nvPr>
        </p:nvSpPr>
        <p:spPr>
          <a:xfrm>
            <a:off x="812767" y="812766"/>
            <a:ext cx="10883445" cy="472401"/>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C2430"/>
                </a:solidFill>
                <a:latin typeface="Instrument Sans" pitchFamily="34" charset="0"/>
                <a:ea typeface="Instrument Sans" pitchFamily="34" charset="-122"/>
                <a:cs typeface="Instrument Sans" pitchFamily="34" charset="-120"/>
              </a:rPr>
              <a:t>What we would do next</a:t>
            </a:r>
            <a:endParaRPr lang="en-US" sz="3200" dirty="0"/>
          </a:p>
        </p:txBody>
      </p:sp>
      <p:sp>
        <p:nvSpPr>
          <p:cNvPr id="3" name="Shape 1"/>
          <p:cNvSpPr/>
          <p:nvPr/>
        </p:nvSpPr>
        <p:spPr>
          <a:xfrm>
            <a:off x="812767" y="1567731"/>
            <a:ext cx="10566452" cy="0"/>
          </a:xfrm>
          <a:prstGeom prst="line">
            <a:avLst/>
          </a:prstGeom>
          <a:noFill/>
          <a:ln w="6350">
            <a:solidFill>
              <a:srgbClr val="CBD2DC"/>
            </a:solidFill>
            <a:prstDash val="solid"/>
          </a:ln>
        </p:spPr>
      </p:sp>
      <p:sp>
        <p:nvSpPr>
          <p:cNvPr id="4" name="Text 2"/>
          <p:cNvSpPr/>
          <p:nvPr/>
        </p:nvSpPr>
        <p:spPr>
          <a:xfrm>
            <a:off x="812767" y="1721340"/>
            <a:ext cx="457183" cy="797446"/>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2F5BEA"/>
                </a:solidFill>
                <a:latin typeface="Instrument Sans" pitchFamily="34" charset="0"/>
                <a:ea typeface="Instrument Sans" pitchFamily="34" charset="-122"/>
                <a:cs typeface="Instrument Sans" pitchFamily="34" charset="-120"/>
              </a:rPr>
              <a:t>1</a:t>
            </a:r>
            <a:endParaRPr lang="en-US" sz="2600" dirty="0"/>
          </a:p>
        </p:txBody>
      </p:sp>
      <p:sp>
        <p:nvSpPr>
          <p:cNvPr id="5" name="Text 3"/>
          <p:cNvSpPr/>
          <p:nvPr/>
        </p:nvSpPr>
        <p:spPr>
          <a:xfrm>
            <a:off x="1473123" y="1721340"/>
            <a:ext cx="10203279" cy="284471"/>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C2430"/>
                </a:solidFill>
                <a:latin typeface="Instrument Sans" pitchFamily="34" charset="0"/>
                <a:ea typeface="Instrument Sans" pitchFamily="34" charset="-122"/>
                <a:cs typeface="Instrument Sans" pitchFamily="34" charset="-120"/>
              </a:rPr>
              <a:t>Re-run on the organizers’ setup</a:t>
            </a:r>
            <a:endParaRPr lang="en-US" sz="1700" dirty="0"/>
          </a:p>
        </p:txBody>
      </p:sp>
      <p:sp>
        <p:nvSpPr>
          <p:cNvPr id="6" name="Text 4"/>
          <p:cNvSpPr/>
          <p:nvPr/>
        </p:nvSpPr>
        <p:spPr>
          <a:xfrm>
            <a:off x="1473123" y="2031194"/>
            <a:ext cx="10203279" cy="48759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6"/>
                </a:solidFill>
                <a:latin typeface="Instrument Sans" pitchFamily="34" charset="0"/>
                <a:ea typeface="Instrument Sans" pitchFamily="34" charset="-122"/>
                <a:cs typeface="Instrument Sans" pitchFamily="34" charset="-120"/>
              </a:rPr>
              <a:t>Current code on CUDA: Qwen3-14B-AWQ on vLLM, NeMo speech recognition and the official LLM judge, so our number can be compared with theirs.</a:t>
            </a:r>
            <a:endParaRPr lang="en-US" sz="1300" dirty="0"/>
          </a:p>
        </p:txBody>
      </p:sp>
      <p:sp>
        <p:nvSpPr>
          <p:cNvPr id="7" name="Shape 5"/>
          <p:cNvSpPr/>
          <p:nvPr/>
        </p:nvSpPr>
        <p:spPr>
          <a:xfrm>
            <a:off x="812767" y="2674330"/>
            <a:ext cx="10566452" cy="0"/>
          </a:xfrm>
          <a:prstGeom prst="line">
            <a:avLst/>
          </a:prstGeom>
          <a:noFill/>
          <a:ln w="6350">
            <a:solidFill>
              <a:srgbClr val="CBD2DC"/>
            </a:solidFill>
            <a:prstDash val="solid"/>
          </a:ln>
        </p:spPr>
      </p:sp>
      <p:sp>
        <p:nvSpPr>
          <p:cNvPr id="8" name="Text 6"/>
          <p:cNvSpPr/>
          <p:nvPr/>
        </p:nvSpPr>
        <p:spPr>
          <a:xfrm>
            <a:off x="812767" y="2827939"/>
            <a:ext cx="457183" cy="566349"/>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2F5BEA"/>
                </a:solidFill>
                <a:latin typeface="Instrument Sans" pitchFamily="34" charset="0"/>
                <a:ea typeface="Instrument Sans" pitchFamily="34" charset="-122"/>
                <a:cs typeface="Instrument Sans" pitchFamily="34" charset="-120"/>
              </a:rPr>
              <a:t>2</a:t>
            </a:r>
            <a:endParaRPr lang="en-US" sz="2600" dirty="0"/>
          </a:p>
        </p:txBody>
      </p:sp>
      <p:sp>
        <p:nvSpPr>
          <p:cNvPr id="9" name="Text 7"/>
          <p:cNvSpPr/>
          <p:nvPr/>
        </p:nvSpPr>
        <p:spPr>
          <a:xfrm>
            <a:off x="1473123" y="2827939"/>
            <a:ext cx="10203279" cy="284471"/>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C2430"/>
                </a:solidFill>
                <a:latin typeface="Instrument Sans" pitchFamily="34" charset="0"/>
                <a:ea typeface="Instrument Sans" pitchFamily="34" charset="-122"/>
                <a:cs typeface="Instrument Sans" pitchFamily="34" charset="-120"/>
              </a:rPr>
              <a:t>Stop missing calls</a:t>
            </a:r>
            <a:endParaRPr lang="en-US" sz="1700" dirty="0"/>
          </a:p>
        </p:txBody>
      </p:sp>
      <p:sp>
        <p:nvSpPr>
          <p:cNvPr id="10" name="Text 8"/>
          <p:cNvSpPr/>
          <p:nvPr/>
        </p:nvSpPr>
        <p:spPr>
          <a:xfrm>
            <a:off x="1473123" y="3137793"/>
            <a:ext cx="10203279" cy="2564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6"/>
                </a:solidFill>
                <a:latin typeface="Instrument Sans" pitchFamily="34" charset="0"/>
                <a:ea typeface="Instrument Sans" pitchFamily="34" charset="-122"/>
                <a:cs typeface="Instrument Sans" pitchFamily="34" charset="-120"/>
              </a:rPr>
              <a:t>23 of 42 failures made no tool call, and three-call chains pass 5 of 16. Study each one and strengthen planning for dependent calls.</a:t>
            </a:r>
            <a:endParaRPr lang="en-US" sz="1300" dirty="0"/>
          </a:p>
        </p:txBody>
      </p:sp>
      <p:sp>
        <p:nvSpPr>
          <p:cNvPr id="11" name="Shape 9"/>
          <p:cNvSpPr/>
          <p:nvPr/>
        </p:nvSpPr>
        <p:spPr>
          <a:xfrm>
            <a:off x="812767" y="3549830"/>
            <a:ext cx="10566452" cy="0"/>
          </a:xfrm>
          <a:prstGeom prst="line">
            <a:avLst/>
          </a:prstGeom>
          <a:noFill/>
          <a:ln w="6350">
            <a:solidFill>
              <a:srgbClr val="CBD2DC"/>
            </a:solidFill>
            <a:prstDash val="solid"/>
          </a:ln>
        </p:spPr>
      </p:sp>
      <p:sp>
        <p:nvSpPr>
          <p:cNvPr id="12" name="Text 10"/>
          <p:cNvSpPr/>
          <p:nvPr/>
        </p:nvSpPr>
        <p:spPr>
          <a:xfrm>
            <a:off x="812767" y="3703442"/>
            <a:ext cx="457183" cy="797446"/>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2F5BEA"/>
                </a:solidFill>
                <a:latin typeface="Instrument Sans" pitchFamily="34" charset="0"/>
                <a:ea typeface="Instrument Sans" pitchFamily="34" charset="-122"/>
                <a:cs typeface="Instrument Sans" pitchFamily="34" charset="-120"/>
              </a:rPr>
              <a:t>3</a:t>
            </a:r>
            <a:endParaRPr lang="en-US" sz="2600" dirty="0"/>
          </a:p>
        </p:txBody>
      </p:sp>
      <p:sp>
        <p:nvSpPr>
          <p:cNvPr id="13" name="Text 11"/>
          <p:cNvSpPr/>
          <p:nvPr/>
        </p:nvSpPr>
        <p:spPr>
          <a:xfrm>
            <a:off x="1473123" y="3703442"/>
            <a:ext cx="10203279" cy="284471"/>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C2430"/>
                </a:solidFill>
                <a:latin typeface="Instrument Sans" pitchFamily="34" charset="0"/>
                <a:ea typeface="Instrument Sans" pitchFamily="34" charset="-122"/>
                <a:cs typeface="Instrument Sans" pitchFamily="34" charset="-120"/>
              </a:rPr>
              <a:t>Cut response time</a:t>
            </a:r>
            <a:endParaRPr lang="en-US" sz="1700" dirty="0"/>
          </a:p>
        </p:txBody>
      </p:sp>
      <p:sp>
        <p:nvSpPr>
          <p:cNvPr id="14" name="Text 12"/>
          <p:cNvSpPr/>
          <p:nvPr/>
        </p:nvSpPr>
        <p:spPr>
          <a:xfrm>
            <a:off x="1473123" y="4013293"/>
            <a:ext cx="10203279" cy="48759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6"/>
                </a:solidFill>
                <a:latin typeface="Instrument Sans" pitchFamily="34" charset="0"/>
                <a:ea typeface="Instrument Sans" pitchFamily="34" charset="-122"/>
                <a:cs typeface="Instrument Sans" pitchFamily="34" charset="-120"/>
              </a:rPr>
              <a:t>Stream partial transcripts instead of whole segments. The benchmark mean is 4.94 s, and a cold live reply took about 18 s on a 16 GB Mac.</a:t>
            </a:r>
            <a:endParaRPr lang="en-US" sz="1300" dirty="0"/>
          </a:p>
        </p:txBody>
      </p:sp>
      <p:sp>
        <p:nvSpPr>
          <p:cNvPr id="15" name="Shape 13"/>
          <p:cNvSpPr/>
          <p:nvPr/>
        </p:nvSpPr>
        <p:spPr>
          <a:xfrm>
            <a:off x="812767" y="4656432"/>
            <a:ext cx="10566452" cy="0"/>
          </a:xfrm>
          <a:prstGeom prst="line">
            <a:avLst/>
          </a:prstGeom>
          <a:noFill/>
          <a:ln w="6350">
            <a:solidFill>
              <a:srgbClr val="CBD2DC"/>
            </a:solidFill>
            <a:prstDash val="solid"/>
          </a:ln>
        </p:spPr>
      </p:sp>
      <p:sp>
        <p:nvSpPr>
          <p:cNvPr id="16" name="Text 14"/>
          <p:cNvSpPr/>
          <p:nvPr/>
        </p:nvSpPr>
        <p:spPr>
          <a:xfrm>
            <a:off x="812767" y="4810041"/>
            <a:ext cx="457183" cy="566349"/>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2F5BEA"/>
                </a:solidFill>
                <a:latin typeface="Instrument Sans" pitchFamily="34" charset="0"/>
                <a:ea typeface="Instrument Sans" pitchFamily="34" charset="-122"/>
                <a:cs typeface="Instrument Sans" pitchFamily="34" charset="-120"/>
              </a:rPr>
              <a:t>4</a:t>
            </a:r>
            <a:endParaRPr lang="en-US" sz="2600" dirty="0"/>
          </a:p>
        </p:txBody>
      </p:sp>
      <p:sp>
        <p:nvSpPr>
          <p:cNvPr id="17" name="Text 15"/>
          <p:cNvSpPr/>
          <p:nvPr/>
        </p:nvSpPr>
        <p:spPr>
          <a:xfrm>
            <a:off x="1473123" y="4810041"/>
            <a:ext cx="10203279" cy="284471"/>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C2430"/>
                </a:solidFill>
                <a:latin typeface="Instrument Sans" pitchFamily="34" charset="0"/>
                <a:ea typeface="Instrument Sans" pitchFamily="34" charset="-122"/>
                <a:cs typeface="Instrument Sans" pitchFamily="34" charset="-120"/>
              </a:rPr>
              <a:t>Test with real people</a:t>
            </a:r>
            <a:endParaRPr lang="en-US" sz="1700" dirty="0"/>
          </a:p>
        </p:txBody>
      </p:sp>
      <p:sp>
        <p:nvSpPr>
          <p:cNvPr id="18" name="Text 16"/>
          <p:cNvSpPr/>
          <p:nvPr/>
        </p:nvSpPr>
        <p:spPr>
          <a:xfrm>
            <a:off x="1473123" y="5119895"/>
            <a:ext cx="10203279" cy="2564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6"/>
                </a:solidFill>
                <a:latin typeface="Instrument Sans" pitchFamily="34" charset="0"/>
                <a:ea typeface="Instrument Sans" pitchFamily="34" charset="-122"/>
                <a:cs typeface="Instrument Sans" pitchFamily="34" charset="-120"/>
              </a:rPr>
              <a:t>Human microphones, speaker echo and two live rooms at once are still unverified.</a:t>
            </a:r>
            <a:endParaRPr lang="en-US" sz="1300" dirty="0"/>
          </a:p>
        </p:txBody>
      </p:sp>
      <p:sp>
        <p:nvSpPr>
          <p:cNvPr id="19" name="Text 17"/>
          <p:cNvSpPr/>
          <p:nvPr/>
        </p:nvSpPr>
        <p:spPr>
          <a:xfrm>
            <a:off x="8763019" y="6238239"/>
            <a:ext cx="2616200" cy="2387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6"/>
                </a:solidFill>
                <a:latin typeface="Instrument Sans" pitchFamily="34" charset="0"/>
                <a:ea typeface="Instrument Sans" pitchFamily="34" charset="-122"/>
                <a:cs typeface="Instrument Sans" pitchFamily="34" charset="-120"/>
              </a:rPr>
              <a:t>8 / 8</a:t>
            </a:r>
            <a:endParaRPr lang="en-US" sz="1200" dirty="0"/>
          </a:p>
        </p:txBody>
      </p:sp>
    </p:spTree>
  </p:cSld>
  <p:clrMapOvr>
    <a:masterClrMapping/>
  </p:clrMapOvr>
</p:sld>
</file>

<file path=ppt/theme/theme1.xml><?xml version="1.0" encoding="utf-8"?>
<a:theme xmlns:a="http://schemas.openxmlformats.org/drawingml/2006/main" name="PRISM Duplex">
  <a:themeElements>
    <a:clrScheme name="PRISM Duplex">
      <a:dk1>
        <a:srgbClr val="1C2430"/>
      </a:dk1>
      <a:lt1>
        <a:srgbClr val="EEF1F4"/>
      </a:lt1>
      <a:dk2>
        <a:srgbClr val="515761"/>
      </a:dk2>
      <a:lt2>
        <a:srgbClr val="D9DDE0"/>
      </a:lt2>
      <a:accent1>
        <a:srgbClr val="2F5BEA"/>
      </a:accent1>
      <a:accent2>
        <a:srgbClr val="8FA8FF"/>
      </a:accent2>
      <a:accent3>
        <a:srgbClr val="C2415B"/>
      </a:accent3>
      <a:accent4>
        <a:srgbClr val="F0D49A"/>
      </a:accent4>
      <a:accent5>
        <a:srgbClr val="A3334A"/>
      </a:accent5>
      <a:accent6>
        <a:srgbClr val="4A5566"/>
      </a:accent6>
      <a:hlink>
        <a:srgbClr val="0563C1"/>
      </a:hlink>
      <a:folHlink>
        <a:srgbClr val="954F72"/>
      </a:folHlink>
    </a:clrScheme>
    <a:fontScheme name="PRISM Duplex">
      <a:majorFont>
        <a:latin typeface="Instrument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strument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PRISM Duplex</dc:title>
  <dc:subject/>
  <dc:creator/>
  <cp:lastModifiedBy/>
  <cp:revision>1</cp:revision>
  <dcterms:created xsi:type="dcterms:W3CDTF">2026-10-04T16:33:30Z</dcterms:created>
  <dcterms:modified xsi:type="dcterms:W3CDTF">2026-10-04T16:33:30Z</dcterms:modified>
</cp:coreProperties>
</file>